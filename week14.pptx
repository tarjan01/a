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00" r:id="rId2"/>
    <p:sldId id="3126" r:id="rId3"/>
    <p:sldId id="3130" r:id="rId4"/>
    <p:sldId id="3128" r:id="rId5"/>
    <p:sldId id="312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1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7B6C-6C12-14A9-2AF3-57787972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1C80E0-234C-983B-F930-17CD78A7D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18AE0-3574-736A-D4B3-3BC2CB97D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93DD4B-0C13-1574-5C38-D302DA3CA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35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F54-255D-2BC2-BC4D-7F8F6C9F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EC304C-AE27-2FE3-A7CC-43D9B07D5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95408C-97C5-2928-EDE1-9CFFABF11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FBC945-0264-9A90-AF91-A66DC747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19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993B-63E3-DC6F-EC18-FFE1C67D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A455E8-8326-2574-1750-BE5BB906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0D9DCF-1449-600A-ABE2-BD96FF81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ResNet50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845FD3-D816-F322-9C80-253E3A2C1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F3D03-C099-469B-AF9F-449D0A9663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32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1573-5EF6-6F20-8CB9-69442B82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7696B-4BA9-F260-8B3A-EC24ED291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34967D-192D-9206-7D60-DD480B8EB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ResNet50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73DFC-2AA5-3002-BFFC-F55B8091F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F3D03-C099-469B-AF9F-449D0A9663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47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2026-3-24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6022-BCB6-E0D9-E4E3-7A9F1C1C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02702B6-D27C-FD8F-875A-FB1803A4FDF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AE2464-616C-1353-16C2-4099023EDC72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21C15B-B797-C42C-30E3-F8A7B4A064AB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6F7ED17-4685-A260-EF74-55F8E873B005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A76A530A-78ED-B7D6-CB95-C1B279F1F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C6EB59C-4F23-CE12-B377-AF622A329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4D000BE-54E5-2CBB-9907-5BACAF374E8C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A955522-551F-306E-83F5-AAEE6B1EB8B7}"/>
              </a:ext>
            </a:extLst>
          </p:cNvPr>
          <p:cNvSpPr txBox="1"/>
          <p:nvPr/>
        </p:nvSpPr>
        <p:spPr>
          <a:xfrm>
            <a:off x="1463040" y="408715"/>
            <a:ext cx="223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合成数据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469D95-46E7-5791-0125-033098D8F956}"/>
              </a:ext>
            </a:extLst>
          </p:cNvPr>
          <p:cNvSpPr txBox="1"/>
          <p:nvPr/>
        </p:nvSpPr>
        <p:spPr>
          <a:xfrm>
            <a:off x="294551" y="1219123"/>
            <a:ext cx="11178504" cy="2958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完成了代码和训练数据从本地往华为内网的迁移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测试数据目前还没有完全收集完成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a. </a:t>
            </a:r>
            <a:r>
              <a:rPr lang="zh-CN" altLang="en-US" dirty="0"/>
              <a:t>华为业务中的实际数据提供的较少，可以从给出的异常视频、图片中截取大约二十张可用图片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b. </a:t>
            </a:r>
            <a:r>
              <a:rPr lang="zh-CN" altLang="en-US" dirty="0"/>
              <a:t>后续计划使用华为内部部署的</a:t>
            </a:r>
            <a:r>
              <a:rPr lang="en-US" altLang="zh-CN" dirty="0" err="1"/>
              <a:t>Comfyui</a:t>
            </a:r>
            <a:r>
              <a:rPr lang="zh-CN" altLang="en-US" dirty="0"/>
              <a:t>的</a:t>
            </a:r>
            <a:r>
              <a:rPr lang="en-US" altLang="zh-CN" dirty="0"/>
              <a:t>z-image-turbo</a:t>
            </a:r>
            <a:r>
              <a:rPr lang="zh-CN" altLang="en-US" dirty="0"/>
              <a:t>模型生成一些可用图片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c.</a:t>
            </a:r>
            <a:r>
              <a:rPr lang="zh-CN" altLang="en-US" dirty="0"/>
              <a:t>目标达到验收标准的</a:t>
            </a:r>
            <a:r>
              <a:rPr lang="en-US" altLang="zh-CN" dirty="0"/>
              <a:t>200</a:t>
            </a:r>
            <a:r>
              <a:rPr lang="zh-CN" altLang="en-US" dirty="0"/>
              <a:t>张图片，异常和正常图片各</a:t>
            </a:r>
            <a:r>
              <a:rPr lang="en-US" altLang="zh-CN" dirty="0"/>
              <a:t>100</a:t>
            </a:r>
            <a:r>
              <a:rPr lang="zh-CN" altLang="en-US" dirty="0"/>
              <a:t>张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目前仍然在生成中。使用</a:t>
            </a:r>
            <a:r>
              <a:rPr lang="en-US" altLang="zh-CN" dirty="0"/>
              <a:t>z-image-turbo</a:t>
            </a:r>
            <a:r>
              <a:rPr lang="zh-CN" altLang="en-US" dirty="0"/>
              <a:t>生成图片的过程中尽可能让不同的图片的场景有一定区别，保证数据质量。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051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437E7-8817-9884-9FD4-3A351A7D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3571D55-103E-CDCB-7871-674940E5302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4E30FC-05C7-972A-A846-1B2393084072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AE7715-E6D8-F5EA-A000-42A7A8DDB50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C95FD6A-4777-0312-6C01-6CB56D157E4E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4374EDE-A9D4-B29E-E1B5-8F24B028CF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56447BB-C22C-10D1-3D01-7B3ECA8F2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F373423-AE1B-81B0-1333-0B4BEE90FD1E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B786EC1-77C7-5D97-35A9-5B7EB75B7184}"/>
              </a:ext>
            </a:extLst>
          </p:cNvPr>
          <p:cNvSpPr txBox="1"/>
          <p:nvPr/>
        </p:nvSpPr>
        <p:spPr>
          <a:xfrm>
            <a:off x="1463040" y="408715"/>
            <a:ext cx="223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合成数据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DED5DF-77FA-CF66-59B9-317E61FA2B54}"/>
              </a:ext>
            </a:extLst>
          </p:cNvPr>
          <p:cNvSpPr txBox="1"/>
          <p:nvPr/>
        </p:nvSpPr>
        <p:spPr>
          <a:xfrm>
            <a:off x="294551" y="1214458"/>
            <a:ext cx="111785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为了解决数据集中不存在“重复器官”的问题，通过</a:t>
            </a:r>
            <a:r>
              <a:rPr lang="en-US" altLang="zh-CN" dirty="0" err="1"/>
              <a:t>MMDet+MMpose+SAM</a:t>
            </a:r>
            <a:r>
              <a:rPr lang="zh-CN" altLang="en-US" dirty="0"/>
              <a:t>开源模型，裁剪出正常的人体器官（目前以裁剪出手臂作为实验）。</a:t>
            </a:r>
            <a:endParaRPr lang="en-US" altLang="zh-CN" dirty="0"/>
          </a:p>
          <a:p>
            <a:r>
              <a:rPr lang="en-US" altLang="zh-CN" dirty="0"/>
              <a:t>·  </a:t>
            </a:r>
            <a:r>
              <a:rPr lang="zh-CN" altLang="en-US" dirty="0"/>
              <a:t>自动化地从正常人体数据集中“收割”肢体零件（</a:t>
            </a:r>
            <a:r>
              <a:rPr lang="en-US" altLang="zh-CN" dirty="0"/>
              <a:t>Patch</a:t>
            </a:r>
            <a:r>
              <a:rPr lang="zh-CN" altLang="en-US" dirty="0"/>
              <a:t>）和对应的掩码（</a:t>
            </a:r>
            <a:r>
              <a:rPr lang="en-US" altLang="zh-CN" dirty="0"/>
              <a:t>Mask</a:t>
            </a:r>
            <a:r>
              <a:rPr lang="zh-CN" altLang="en-US" dirty="0"/>
              <a:t>），并记录关键的元数据（</a:t>
            </a:r>
            <a:r>
              <a:rPr lang="en-US" altLang="zh-CN" dirty="0"/>
              <a:t>Metadata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我们的合成方法不是简单的像素复制，而是充分考虑了人体解剖学比例语义级合成。这使得生成的异常数据极具迷惑性，能有效训练模型捕捉拓扑结构错误。</a:t>
            </a:r>
            <a:endParaRPr lang="en-US" altLang="zh-CN" dirty="0"/>
          </a:p>
          <a:p>
            <a:r>
              <a:rPr lang="en-US" altLang="zh-CN" dirty="0"/>
              <a:t>-----------------------------------------------------------------------------------------------</a:t>
            </a:r>
          </a:p>
          <a:p>
            <a:r>
              <a:rPr lang="zh-CN" altLang="en-US" dirty="0"/>
              <a:t>关键点：</a:t>
            </a:r>
            <a:endParaRPr lang="en-US" altLang="zh-CN" dirty="0"/>
          </a:p>
          <a:p>
            <a:r>
              <a:rPr lang="zh-CN" altLang="en-US" dirty="0"/>
              <a:t>自监督学习思路：我们利用正常数据和自动化算法在线制造“异常数据”，这是一种自监督学习的思路。并解决 </a:t>
            </a:r>
            <a:r>
              <a:rPr lang="en-US" altLang="zh-CN" dirty="0" err="1"/>
              <a:t>ShortCut</a:t>
            </a:r>
            <a:r>
              <a:rPr lang="zh-CN" altLang="en-US" dirty="0"/>
              <a:t>，通过 </a:t>
            </a:r>
            <a:r>
              <a:rPr lang="en-US" altLang="zh-CN" dirty="0"/>
              <a:t>Scale </a:t>
            </a:r>
            <a:r>
              <a:rPr lang="zh-CN" altLang="en-US" dirty="0"/>
              <a:t>和 </a:t>
            </a:r>
            <a:r>
              <a:rPr lang="en-US" altLang="zh-CN" dirty="0"/>
              <a:t>Rotation </a:t>
            </a:r>
            <a:r>
              <a:rPr lang="zh-CN" altLang="en-US" dirty="0"/>
              <a:t>对齐，我们保证模型无法通过像素尺寸或光照突变来判断异常，必须学到全局的拓扑和数量关系（比如：</a:t>
            </a:r>
            <a:r>
              <a:rPr lang="en-US" altLang="zh-CN" dirty="0"/>
              <a:t>Slot Attention </a:t>
            </a:r>
            <a:r>
              <a:rPr lang="zh-CN" altLang="en-US" dirty="0"/>
              <a:t>要捉住“一个手腕不应该连接两只手”）。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我们希望能够通过这种方法解决之前提到的：出现新的异常时，只需要很少的异常图片张数就能学习到这种异常，具体方案如下：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把出现的新的异常裁剪成异常肢体零件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模型训练时，自动将这种异常的肢体零件拼装到正常的人体图片上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通过自监督的方式扩大了新出现的异常的样本数量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755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1DB5-9C9A-8165-DE26-39BAB0FB3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70F38BE0-E78D-588B-B5F5-959CCEE7E1A0}"/>
              </a:ext>
            </a:extLst>
          </p:cNvPr>
          <p:cNvGrpSpPr/>
          <p:nvPr/>
        </p:nvGrpSpPr>
        <p:grpSpPr>
          <a:xfrm>
            <a:off x="1252886" y="368578"/>
            <a:ext cx="3413644" cy="4514505"/>
            <a:chOff x="-802167" y="175857"/>
            <a:chExt cx="3413644" cy="451450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685CFF6-B456-DD6B-DFD5-B14E57680446}"/>
                </a:ext>
              </a:extLst>
            </p:cNvPr>
            <p:cNvSpPr/>
            <p:nvPr/>
          </p:nvSpPr>
          <p:spPr>
            <a:xfrm>
              <a:off x="407465" y="2496286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MMpose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2F113D7-1D0B-E563-9BAD-AD744C32A1A0}"/>
                </a:ext>
              </a:extLst>
            </p:cNvPr>
            <p:cNvSpPr/>
            <p:nvPr/>
          </p:nvSpPr>
          <p:spPr>
            <a:xfrm>
              <a:off x="407466" y="3432294"/>
              <a:ext cx="956709" cy="369283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CD764D2-182E-72FF-580A-FF3927A2ECEB}"/>
                </a:ext>
              </a:extLst>
            </p:cNvPr>
            <p:cNvSpPr/>
            <p:nvPr/>
          </p:nvSpPr>
          <p:spPr>
            <a:xfrm>
              <a:off x="-802167" y="4225413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B1B9C30-A3F2-FEBF-9C6D-110B659D43CF}"/>
                </a:ext>
              </a:extLst>
            </p:cNvPr>
            <p:cNvSpPr/>
            <p:nvPr/>
          </p:nvSpPr>
          <p:spPr>
            <a:xfrm>
              <a:off x="1654768" y="4266128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Mask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6DBCBE0-8EAC-C61C-0785-29AD64AC798B}"/>
                </a:ext>
              </a:extLst>
            </p:cNvPr>
            <p:cNvSpPr/>
            <p:nvPr/>
          </p:nvSpPr>
          <p:spPr>
            <a:xfrm>
              <a:off x="407465" y="1556264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MMdet</a:t>
              </a:r>
              <a:endPara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0BB48BF-C76E-BF63-3228-E46690F1AC06}"/>
                </a:ext>
              </a:extLst>
            </p:cNvPr>
            <p:cNvSpPr txBox="1"/>
            <p:nvPr/>
          </p:nvSpPr>
          <p:spPr>
            <a:xfrm>
              <a:off x="281005" y="807958"/>
              <a:ext cx="12023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IMG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E3294C0F-3054-AD9C-C1A8-A383032F5F8E}"/>
                </a:ext>
              </a:extLst>
            </p:cNvPr>
            <p:cNvSpPr/>
            <p:nvPr/>
          </p:nvSpPr>
          <p:spPr>
            <a:xfrm>
              <a:off x="808331" y="2074554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1" name="箭头: 下 60">
              <a:extLst>
                <a:ext uri="{FF2B5EF4-FFF2-40B4-BE49-F238E27FC236}">
                  <a16:creationId xmlns:a16="http://schemas.microsoft.com/office/drawing/2014/main" id="{99F69E3A-5B93-0C4B-B25E-0AD1B002F6AC}"/>
                </a:ext>
              </a:extLst>
            </p:cNvPr>
            <p:cNvSpPr/>
            <p:nvPr/>
          </p:nvSpPr>
          <p:spPr>
            <a:xfrm>
              <a:off x="808331" y="3004099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618E889F-6024-EEF5-0FBD-D11AF3BDBB2B}"/>
                </a:ext>
              </a:extLst>
            </p:cNvPr>
            <p:cNvSpPr/>
            <p:nvPr/>
          </p:nvSpPr>
          <p:spPr>
            <a:xfrm>
              <a:off x="796021" y="1134104"/>
              <a:ext cx="174651" cy="36239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AF01096-4E59-7742-3DA2-66578C854ED6}"/>
                </a:ext>
              </a:extLst>
            </p:cNvPr>
            <p:cNvSpPr/>
            <p:nvPr/>
          </p:nvSpPr>
          <p:spPr>
            <a:xfrm>
              <a:off x="393357" y="175857"/>
              <a:ext cx="979980" cy="473463"/>
            </a:xfrm>
            <a:prstGeom prst="rect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资产收割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E86466-FD80-10C0-8A8F-CA41716E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51" y="4114619"/>
            <a:ext cx="964247" cy="2397587"/>
          </a:xfrm>
          <a:prstGeom prst="rect">
            <a:avLst/>
          </a:prstGeom>
        </p:spPr>
      </p:pic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B764C9E4-D13A-51DC-0EED-C01CBAD84F7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2124140" y="3601400"/>
            <a:ext cx="423836" cy="12096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F6B5B28F-E34F-391A-4CDA-EF70C18CCB32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3332250" y="3602922"/>
            <a:ext cx="464551" cy="124730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55D36AB2-E904-5BF8-40F9-F06CBFD57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328" y="4054756"/>
            <a:ext cx="981075" cy="24574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DD3BD33-DFD9-C4A3-6026-49891AEC9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199" y="107337"/>
            <a:ext cx="3662353" cy="3662353"/>
          </a:xfrm>
          <a:prstGeom prst="rect">
            <a:avLst/>
          </a:prstGeom>
        </p:spPr>
      </p:pic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AC08029-8D23-7AD1-3963-397979BA6877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rot="10800000">
            <a:off x="3538401" y="1154568"/>
            <a:ext cx="3421798" cy="78394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56258EF3-FF07-3312-74B4-4BC717BA24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350" t="11418" r="36787" b="5941"/>
          <a:stretch>
            <a:fillRect/>
          </a:stretch>
        </p:blipFill>
        <p:spPr>
          <a:xfrm>
            <a:off x="5893822" y="2173219"/>
            <a:ext cx="947203" cy="3026606"/>
          </a:xfrm>
          <a:prstGeom prst="rect">
            <a:avLst/>
          </a:prstGeom>
        </p:spPr>
      </p:pic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304A95FF-14E6-EA65-0BD8-3AE1167846EB}"/>
              </a:ext>
            </a:extLst>
          </p:cNvPr>
          <p:cNvCxnSpPr>
            <a:cxnSpLocks/>
            <a:stCxn id="44" idx="1"/>
            <a:endCxn id="31" idx="3"/>
          </p:cNvCxnSpPr>
          <p:nvPr/>
        </p:nvCxnSpPr>
        <p:spPr>
          <a:xfrm rot="10800000">
            <a:off x="3038036" y="2541452"/>
            <a:ext cx="2855787" cy="114507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8B69714B-EA6C-715C-AC79-D26E01FD93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198" t="11600" r="36414" b="5411"/>
          <a:stretch>
            <a:fillRect/>
          </a:stretch>
        </p:blipFill>
        <p:spPr>
          <a:xfrm>
            <a:off x="472734" y="213497"/>
            <a:ext cx="944939" cy="3215503"/>
          </a:xfrm>
          <a:prstGeom prst="rect">
            <a:avLst/>
          </a:prstGeom>
        </p:spPr>
      </p:pic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8D973D3B-286B-73C5-51EB-5AA80AC24998}"/>
              </a:ext>
            </a:extLst>
          </p:cNvPr>
          <p:cNvCxnSpPr>
            <a:cxnSpLocks/>
            <a:stCxn id="54" idx="3"/>
            <a:endCxn id="61" idx="1"/>
          </p:cNvCxnSpPr>
          <p:nvPr/>
        </p:nvCxnSpPr>
        <p:spPr>
          <a:xfrm>
            <a:off x="1417673" y="1821249"/>
            <a:ext cx="1445711" cy="164974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连接符: 曲线 1">
            <a:extLst>
              <a:ext uri="{FF2B5EF4-FFF2-40B4-BE49-F238E27FC236}">
                <a16:creationId xmlns:a16="http://schemas.microsoft.com/office/drawing/2014/main" id="{D01C1619-5082-C43B-C794-3AC1FCD6490E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rot="16200000" flipH="1">
            <a:off x="1778706" y="2832131"/>
            <a:ext cx="550509" cy="1773825"/>
          </a:xfrm>
          <a:prstGeom prst="curvedConnector5">
            <a:avLst>
              <a:gd name="adj1" fmla="val -41525"/>
              <a:gd name="adj2" fmla="val 56151"/>
              <a:gd name="adj3" fmla="val 141525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F8F26FD-90C6-87B9-22E6-6E94F503B8D6}"/>
              </a:ext>
            </a:extLst>
          </p:cNvPr>
          <p:cNvSpPr/>
          <p:nvPr/>
        </p:nvSpPr>
        <p:spPr>
          <a:xfrm>
            <a:off x="470471" y="3443789"/>
            <a:ext cx="1393156" cy="6109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i="1" dirty="0"/>
              <a:t>Prompt (Wrist=Positive, Elbow=Negative)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B93A2806-3710-947F-22D2-36D73DEE31D0}"/>
              </a:ext>
            </a:extLst>
          </p:cNvPr>
          <p:cNvSpPr/>
          <p:nvPr/>
        </p:nvSpPr>
        <p:spPr>
          <a:xfrm>
            <a:off x="2845743" y="4070095"/>
            <a:ext cx="174651" cy="1059565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BE2904E-4E7D-EF0C-92E7-CC97BB50011F}"/>
              </a:ext>
            </a:extLst>
          </p:cNvPr>
          <p:cNvSpPr/>
          <p:nvPr/>
        </p:nvSpPr>
        <p:spPr>
          <a:xfrm>
            <a:off x="2209595" y="5199825"/>
            <a:ext cx="1393156" cy="2496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i="1" dirty="0"/>
              <a:t>JSON Metadata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8F22746-5C96-C0E7-5FCE-2F451F4F4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782" y="2396955"/>
            <a:ext cx="2331656" cy="4318976"/>
          </a:xfrm>
          <a:prstGeom prst="rect">
            <a:avLst/>
          </a:prstGeom>
        </p:spPr>
      </p:pic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82E0A31A-B55B-44FE-123A-D2BA857A3BE5}"/>
              </a:ext>
            </a:extLst>
          </p:cNvPr>
          <p:cNvCxnSpPr>
            <a:cxnSpLocks/>
            <a:stCxn id="25" idx="2"/>
            <a:endCxn id="27" idx="1"/>
          </p:cNvCxnSpPr>
          <p:nvPr/>
        </p:nvCxnSpPr>
        <p:spPr>
          <a:xfrm rot="5400000" flipH="1" flipV="1">
            <a:off x="4798450" y="2664165"/>
            <a:ext cx="893053" cy="4677609"/>
          </a:xfrm>
          <a:prstGeom prst="curvedConnector4">
            <a:avLst>
              <a:gd name="adj1" fmla="val -25598"/>
              <a:gd name="adj2" fmla="val 57446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84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FC7D-0792-439E-AF64-EAD731E4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5AE8E4D-0086-8856-21CD-2203E4280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4" y="2878515"/>
            <a:ext cx="3879024" cy="38790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4DFDDF-18B0-75D3-F338-60B8158E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98" y="284981"/>
            <a:ext cx="964247" cy="2397587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93045E-5144-B681-C1AA-CB297A5B8431}"/>
              </a:ext>
            </a:extLst>
          </p:cNvPr>
          <p:cNvCxnSpPr>
            <a:cxnSpLocks/>
          </p:cNvCxnSpPr>
          <p:nvPr/>
        </p:nvCxnSpPr>
        <p:spPr>
          <a:xfrm>
            <a:off x="764627" y="840592"/>
            <a:ext cx="538100" cy="1295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D5D58D7-D5AB-C17E-AEAC-D18A710C6794}"/>
              </a:ext>
            </a:extLst>
          </p:cNvPr>
          <p:cNvCxnSpPr/>
          <p:nvPr/>
        </p:nvCxnSpPr>
        <p:spPr>
          <a:xfrm flipH="1">
            <a:off x="2470081" y="5639336"/>
            <a:ext cx="770884" cy="45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A1FEDC80-4CDE-6CC6-F826-6EAB7D75553B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>
            <a:off x="1163334" y="1802809"/>
            <a:ext cx="1421097" cy="18466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FB80801-12EF-6719-AA10-9711934ED339}"/>
              </a:ext>
            </a:extLst>
          </p:cNvPr>
          <p:cNvSpPr txBox="1"/>
          <p:nvPr/>
        </p:nvSpPr>
        <p:spPr>
          <a:xfrm>
            <a:off x="2584430" y="1802809"/>
            <a:ext cx="113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V_src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8453618-7170-5059-E66C-D6DF5A09B07B}"/>
              </a:ext>
            </a:extLst>
          </p:cNvPr>
          <p:cNvSpPr txBox="1"/>
          <p:nvPr/>
        </p:nvSpPr>
        <p:spPr>
          <a:xfrm>
            <a:off x="2604932" y="2139366"/>
            <a:ext cx="113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V_dst</a:t>
            </a:r>
            <a:endParaRPr lang="zh-CN" altLang="en-US" dirty="0"/>
          </a:p>
        </p:txBody>
      </p: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6864DA6F-3B9D-6A9B-F2F0-C7CB218A7B64}"/>
              </a:ext>
            </a:extLst>
          </p:cNvPr>
          <p:cNvCxnSpPr>
            <a:cxnSpLocks/>
            <a:stCxn id="37" idx="2"/>
          </p:cNvCxnSpPr>
          <p:nvPr/>
        </p:nvCxnSpPr>
        <p:spPr>
          <a:xfrm rot="16200000" flipH="1">
            <a:off x="1748012" y="3935580"/>
            <a:ext cx="2988397" cy="13463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A0987E14-6471-D09B-4497-87ED6FE85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344" y="1686908"/>
            <a:ext cx="1714286" cy="71428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56929321-8E2D-19CF-DFFA-DCE61A3B6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519" y="2352014"/>
            <a:ext cx="4182876" cy="479020"/>
          </a:xfrm>
          <a:prstGeom prst="rect">
            <a:avLst/>
          </a:prstGeom>
        </p:spPr>
      </p:pic>
      <p:sp>
        <p:nvSpPr>
          <p:cNvPr id="49" name="箭头: 下 48">
            <a:extLst>
              <a:ext uri="{FF2B5EF4-FFF2-40B4-BE49-F238E27FC236}">
                <a16:creationId xmlns:a16="http://schemas.microsoft.com/office/drawing/2014/main" id="{B41C776E-0D94-55F7-E93D-F88C4046D723}"/>
              </a:ext>
            </a:extLst>
          </p:cNvPr>
          <p:cNvSpPr/>
          <p:nvPr/>
        </p:nvSpPr>
        <p:spPr>
          <a:xfrm rot="16200000">
            <a:off x="4083699" y="1580758"/>
            <a:ext cx="174651" cy="1285802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875781-7BA4-BFA2-EBA0-DBFD7BED4AB7}"/>
              </a:ext>
            </a:extLst>
          </p:cNvPr>
          <p:cNvSpPr/>
          <p:nvPr/>
        </p:nvSpPr>
        <p:spPr>
          <a:xfrm>
            <a:off x="2392298" y="669174"/>
            <a:ext cx="1139925" cy="473463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旋转对齐合成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8B8659A-26F6-9032-4AA6-652FAB5E2182}"/>
              </a:ext>
            </a:extLst>
          </p:cNvPr>
          <p:cNvSpPr txBox="1"/>
          <p:nvPr/>
        </p:nvSpPr>
        <p:spPr>
          <a:xfrm>
            <a:off x="6143807" y="3059668"/>
            <a:ext cx="1162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泊松融合</a:t>
            </a:r>
          </a:p>
        </p:txBody>
      </p:sp>
      <p:sp>
        <p:nvSpPr>
          <p:cNvPr id="58" name="箭头: 下 57">
            <a:extLst>
              <a:ext uri="{FF2B5EF4-FFF2-40B4-BE49-F238E27FC236}">
                <a16:creationId xmlns:a16="http://schemas.microsoft.com/office/drawing/2014/main" id="{A104C4F2-EA0A-CF71-EB81-A84BCB16AD70}"/>
              </a:ext>
            </a:extLst>
          </p:cNvPr>
          <p:cNvSpPr/>
          <p:nvPr/>
        </p:nvSpPr>
        <p:spPr>
          <a:xfrm>
            <a:off x="5873543" y="2831034"/>
            <a:ext cx="174651" cy="103534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E1BFEB61-2259-5914-3A35-0E7E5FBB97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4636" y="3965460"/>
            <a:ext cx="2730572" cy="2730572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50DE5812-27AB-55CB-7055-09517966F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898" y="3965458"/>
            <a:ext cx="2730573" cy="273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397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9092</TotalTime>
  <Words>453</Words>
  <Application>Microsoft Office PowerPoint</Application>
  <PresentationFormat>宽屏</PresentationFormat>
  <Paragraphs>49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Calibri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1254</cp:revision>
  <dcterms:created xsi:type="dcterms:W3CDTF">2020-11-21T03:02:13Z</dcterms:created>
  <dcterms:modified xsi:type="dcterms:W3CDTF">2026-03-23T13:34:15Z</dcterms:modified>
</cp:coreProperties>
</file>