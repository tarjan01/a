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00" r:id="rId2"/>
    <p:sldId id="3107" r:id="rId3"/>
    <p:sldId id="3108" r:id="rId4"/>
    <p:sldId id="3109" r:id="rId5"/>
    <p:sldId id="3110" r:id="rId6"/>
    <p:sldId id="311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BA4"/>
    <a:srgbClr val="AFABAB"/>
    <a:srgbClr val="0F3DC5"/>
    <a:srgbClr val="2BA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6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F8055-27CA-4C55-BC23-F9359CE3244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91625-B960-4FA4-9643-9A008D8F6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1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4C1D0-060E-4FCC-91A6-7476A46993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9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40E4-2694-C5CB-99B2-01FB6DBD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3E2F94-6927-38F7-5FD3-9924CF300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19FEA5-611C-BBB7-1483-317502526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8490C3-A572-12B7-8013-FBDD36B8C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354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5BAB2-FE6A-8CFD-D957-C8C2B418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21D572-0826-09DA-F1E7-CFA87F997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477C69-8EBC-F482-90F0-B22209FED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6A7622-7BB8-7D51-83B1-843C5C66F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357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07B7-87CB-73AD-ABD6-93A58D67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854AB6-0B24-44CE-63EE-A20DBCDA6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1B9037-8B9B-9894-B7D1-9558E6A2B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ADDCCE-67C7-B83D-966F-9D66D283D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064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3886-A660-2BBB-4D5E-022799D87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CF1695-2407-E2DF-EFC4-25E6ADB6E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CB96BA-0ED0-5A56-53F3-AC7D5C0BC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0D2E64-BE4F-175B-2539-67DC39F25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863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8AC92-AE74-0AEE-C7B0-EA0F23CD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3C1BB4-35B3-788B-087B-3AB3A51E3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16E67A-8B2F-AEEB-1A49-1DE5B8A6E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E999A0-B50C-25DD-B12D-6C4E156B6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287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04E95-C28C-4865-8BFF-E15BC7F29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3BA2C4-6A62-465D-9859-A6EC58CCD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7E042-E9C0-47C6-8F72-5A6E31E1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42068-7729-4131-9349-2C9AA98E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08A23-9958-47FB-9DA6-A7D6A7EA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56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44F6A-BEA3-4829-BA87-1D170340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3E72B-5CFE-4679-8D93-CB917912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28390-902E-46D6-AAD1-5CAC6F4C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89B6D-FF2D-4CF2-B3C7-D4A589C5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F298F-6A75-4555-8309-0DA77122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129C4-4BC7-4D1C-923F-9496B94E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8698E6-0411-4214-8D94-B0A1E13D8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41289-4692-437C-B93E-BEDAD521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6CAEC-6441-46A7-8BEC-EDD2814B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2D5173-EC3B-4CA4-9E3D-84194D85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8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FCE84-631B-4382-B4C9-8A1C21E7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D18C5-ABDC-4A53-81D5-A8D5D8895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D59A7-28E3-435E-A74B-D01ACC655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7DBAE-24BD-44C9-AF96-BD2D6C57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615034-129A-49B6-86F3-AEAF5A46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8710F-8D44-4ABA-8573-2452F1B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5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0188A-D700-409D-BE1F-2F2B0D9B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7473A-D404-4C74-B566-6E38034F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43395-3FFA-4870-AC3C-44F08215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27D04B-C346-41D1-8FEC-A80AA34B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C4B6FE-EDA7-40B1-8441-34577FC4D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B0929-77AA-49CB-AB9B-CEF9BA5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192131-6D11-451C-A87D-BA5C5F38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3B0548-3F2D-4EB1-BE3D-B4889DC7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8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F6A9F-3B52-4E20-ABF1-A02C896E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B5F133-9790-4C0C-BDE4-1AA814DD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6C979-3EBC-4160-89D7-5AEFA5AF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59250C-276B-4000-B679-F2821DEC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7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C519CF-2247-47FB-A4F0-5E137898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39F0A5-6FFF-48A8-8511-7FE17C37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85EE3-245C-49B5-8F8C-E61B2832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04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FE5AB-235B-49F2-8C30-96987517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31D7B-CBDB-4E74-8461-91339A36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B9F42-3D3E-4977-9E31-C7E5A168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BB7CFA-C294-46B1-9CCF-5684E60E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F3A9A8-FCD2-4C2E-91BC-DBCD14C2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26A166-5F0F-47E9-BFEF-35A17051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8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94A1B-284C-4868-B171-E77F60CD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D66C86-0CF8-4E32-A933-A5035CD4B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A85A24-38B6-4C17-8CE3-D42EA32DD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5A0FC-ABA1-425E-9952-DA52635C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8AE56-F084-493B-AD86-53074AD5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ED1D20-B66A-408C-98AC-6CB497CF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90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DD0E2-89AE-4F91-95C6-B328E86D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A87FD-6B6E-4100-99A0-5B9E53CB6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9A51A-B308-4DE3-BCF1-FC48B88D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CF7F4-023D-4E0C-BBCC-409FD85E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7EE98-D94A-480D-AEF0-60916E0D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5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6736A6-5D5C-46C2-BD7E-BED0C2D39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5939D8-8B3D-4C32-B97B-D5A4A549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D972E-0DA1-486D-B54F-00A9E287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BDFB6-AE3A-4D21-8A49-2126353C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92135-B275-4FAE-9A81-DB66A975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8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91EB71-47C6-4326-A2C3-D98D6A21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579BF-3838-432C-B48C-A982AACF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BF249-5457-4BEA-B28C-BDE19428D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EB2F5-E5B9-4F7B-93DF-EF86E88C72B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19342-6EA6-4BFE-A3B1-9B26DAB6E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57B64-A415-41D7-8C58-F2D64A53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0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188F525-2E6B-47CA-9C01-06E865ED87C3}"/>
              </a:ext>
            </a:extLst>
          </p:cNvPr>
          <p:cNvSpPr/>
          <p:nvPr/>
        </p:nvSpPr>
        <p:spPr>
          <a:xfrm>
            <a:off x="0" y="1"/>
            <a:ext cx="12192000" cy="6887980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41F30F-EAFE-4510-9017-E617922BC134}"/>
              </a:ext>
            </a:extLst>
          </p:cNvPr>
          <p:cNvSpPr/>
          <p:nvPr/>
        </p:nvSpPr>
        <p:spPr>
          <a:xfrm>
            <a:off x="0" y="1409826"/>
            <a:ext cx="12192000" cy="44997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572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7FFEEA-9F85-408F-A4B4-25BB52A56DD1}"/>
              </a:ext>
            </a:extLst>
          </p:cNvPr>
          <p:cNvSpPr txBox="1"/>
          <p:nvPr/>
        </p:nvSpPr>
        <p:spPr>
          <a:xfrm>
            <a:off x="459695" y="1745706"/>
            <a:ext cx="11482466" cy="2515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飞虎队课题：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AIGC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生成的人物异常检测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week5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985B56C-740E-4BB9-917F-013EAA8474B7}"/>
              </a:ext>
            </a:extLst>
          </p:cNvPr>
          <p:cNvGrpSpPr/>
          <p:nvPr/>
        </p:nvGrpSpPr>
        <p:grpSpPr>
          <a:xfrm>
            <a:off x="8859189" y="146088"/>
            <a:ext cx="2930983" cy="1063161"/>
            <a:chOff x="4285093" y="-6242"/>
            <a:chExt cx="3795135" cy="137661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829C4A2-989C-49C5-8FA9-52CE7290E71E}"/>
                </a:ext>
              </a:extLst>
            </p:cNvPr>
            <p:cNvGrpSpPr/>
            <p:nvPr/>
          </p:nvGrpSpPr>
          <p:grpSpPr>
            <a:xfrm>
              <a:off x="4285093" y="-6242"/>
              <a:ext cx="3795135" cy="1376619"/>
              <a:chOff x="6597847" y="960547"/>
              <a:chExt cx="4882683" cy="1771112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CFF3C992-06B7-45C2-B675-3CD9DEBA3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97847" y="960547"/>
                <a:ext cx="1771106" cy="1771112"/>
              </a:xfrm>
              <a:prstGeom prst="rect">
                <a:avLst/>
              </a:prstGeom>
            </p:spPr>
          </p:pic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9C87AC23-9356-4893-BA22-93B73D6302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06891" y="1004505"/>
                <a:ext cx="3073639" cy="1271931"/>
              </a:xfrm>
              <a:prstGeom prst="rect">
                <a:avLst/>
              </a:prstGeom>
            </p:spPr>
          </p:pic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2EE5DB9-DFBD-49B4-848B-2299EA7DBA92}"/>
                </a:ext>
              </a:extLst>
            </p:cNvPr>
            <p:cNvSpPr/>
            <p:nvPr/>
          </p:nvSpPr>
          <p:spPr>
            <a:xfrm>
              <a:off x="5763722" y="1032708"/>
              <a:ext cx="2189819" cy="318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000" b="1" dirty="0">
                  <a:solidFill>
                    <a:schemeClr val="bg1"/>
                  </a:solidFill>
                  <a:latin typeface="Calibri"/>
                  <a:ea typeface="宋体" panose="02010600030101010101" pitchFamily="2" charset="-122"/>
                </a:rPr>
                <a:t>FUDAN UNIVERSITY</a:t>
              </a:r>
            </a:p>
          </p:txBody>
        </p: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19BC50C-2F63-482E-BB46-0DF7BB7C3E59}"/>
              </a:ext>
            </a:extLst>
          </p:cNvPr>
          <p:cNvSpPr/>
          <p:nvPr/>
        </p:nvSpPr>
        <p:spPr>
          <a:xfrm>
            <a:off x="7879518" y="4718772"/>
            <a:ext cx="2849597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2026-1-20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C223F0-7CE8-41E5-9B50-26980E3A79E2}"/>
              </a:ext>
            </a:extLst>
          </p:cNvPr>
          <p:cNvGrpSpPr/>
          <p:nvPr/>
        </p:nvGrpSpPr>
        <p:grpSpPr>
          <a:xfrm>
            <a:off x="1672740" y="4518194"/>
            <a:ext cx="9056375" cy="112418"/>
            <a:chOff x="2958650" y="4529138"/>
            <a:chExt cx="6390970" cy="0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D34CB00-7CBF-41FF-812C-D972CE5ED13F}"/>
                </a:ext>
              </a:extLst>
            </p:cNvPr>
            <p:cNvCxnSpPr>
              <a:cxnSpLocks/>
            </p:cNvCxnSpPr>
            <p:nvPr/>
          </p:nvCxnSpPr>
          <p:spPr>
            <a:xfrm>
              <a:off x="6475751" y="4529138"/>
              <a:ext cx="2873869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104BA4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2E22B22-2629-4A30-BF1A-0F9C6F37004E}"/>
                </a:ext>
              </a:extLst>
            </p:cNvPr>
            <p:cNvCxnSpPr>
              <a:cxnSpLocks/>
            </p:cNvCxnSpPr>
            <p:nvPr/>
          </p:nvCxnSpPr>
          <p:spPr>
            <a:xfrm>
              <a:off x="2958650" y="4529138"/>
              <a:ext cx="3681993" cy="0"/>
            </a:xfrm>
            <a:prstGeom prst="line">
              <a:avLst/>
            </a:prstGeom>
            <a:ln w="25400">
              <a:gradFill flip="none" rotWithShape="1">
                <a:gsLst>
                  <a:gs pos="96000">
                    <a:srgbClr val="104BA4"/>
                  </a:gs>
                  <a:gs pos="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1A400646-BDFB-4DBA-9781-0B7716B06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703" y="6271460"/>
            <a:ext cx="3760842" cy="502327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0286C27B-57AF-A426-E832-D8932C07074F}"/>
              </a:ext>
            </a:extLst>
          </p:cNvPr>
          <p:cNvSpPr/>
          <p:nvPr/>
        </p:nvSpPr>
        <p:spPr>
          <a:xfrm>
            <a:off x="1287624" y="4718772"/>
            <a:ext cx="3378743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汇报人：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刘皓蓝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E833E4-E11E-F40F-D8F0-534803E38411}"/>
              </a:ext>
            </a:extLst>
          </p:cNvPr>
          <p:cNvSpPr/>
          <p:nvPr/>
        </p:nvSpPr>
        <p:spPr>
          <a:xfrm>
            <a:off x="4821229" y="4718772"/>
            <a:ext cx="2849595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指导老师：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孙未未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51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8DAE-8C0D-E3CD-650A-7B1BAD99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2395528-CFC3-08C9-D6FC-5F7177C87C9C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E4C4F2-09CC-9CAD-9734-4EB070A2E6E5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8309F7-AF86-FCFB-110D-247F89CDCF2A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进展总结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F8C9AE4-0365-9AAE-68E2-51A7EA992C34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C634659-36F6-99C4-FD79-5A3BD2EA2671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2FB86E78-213C-1A03-4B1F-EA89A23F7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6A1B27A4-A529-77D7-7E98-1196E414A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4D2A329-45B6-20FF-38C0-D212CD22628D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310E8D30-6E35-CBE9-470A-1653695BC2D7}"/>
              </a:ext>
            </a:extLst>
          </p:cNvPr>
          <p:cNvSpPr txBox="1"/>
          <p:nvPr/>
        </p:nvSpPr>
        <p:spPr>
          <a:xfrm>
            <a:off x="334962" y="1214458"/>
            <a:ext cx="118570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模型架构设计：多维度信息融合</a:t>
            </a:r>
          </a:p>
          <a:p>
            <a:pPr>
              <a:buNone/>
            </a:pPr>
            <a:r>
              <a:rPr lang="zh-CN" altLang="en-US" dirty="0"/>
              <a:t>目前的模型核心基于 </a:t>
            </a:r>
            <a:r>
              <a:rPr lang="en-US" altLang="zh-CN" b="1" dirty="0" err="1"/>
              <a:t>ConvNeXt</a:t>
            </a:r>
            <a:r>
              <a:rPr lang="en-US" altLang="zh-CN" b="1" dirty="0"/>
              <a:t>-Tiny</a:t>
            </a:r>
            <a:r>
              <a:rPr lang="zh-CN" altLang="en-US" dirty="0"/>
              <a:t>，并引入了多层级、多通道的引导信息：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5 </a:t>
            </a:r>
            <a:r>
              <a:rPr lang="zh-CN" altLang="en-US" dirty="0"/>
              <a:t>通道输入流：在原始</a:t>
            </a:r>
            <a:r>
              <a:rPr lang="en-US" altLang="zh-CN" dirty="0"/>
              <a:t>RGB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通道）基础上，额外注入了 </a:t>
            </a:r>
            <a:r>
              <a:rPr lang="en-US" altLang="zh-CN" dirty="0" err="1"/>
              <a:t>MMPose</a:t>
            </a:r>
            <a:r>
              <a:rPr lang="en-US" altLang="zh-CN" dirty="0"/>
              <a:t> </a:t>
            </a:r>
            <a:r>
              <a:rPr lang="zh-CN" altLang="en-US" dirty="0"/>
              <a:t>骨架热力图和手部关键点热力图，使模型在底层特征提取阶段就具备人体结构先验。</a:t>
            </a:r>
          </a:p>
          <a:p>
            <a:pPr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）多尺度注入 </a:t>
            </a:r>
            <a:r>
              <a:rPr lang="en-US" altLang="zh-CN" dirty="0"/>
              <a:t>(Multi-scale Injection)</a:t>
            </a:r>
            <a:r>
              <a:rPr lang="zh-CN" altLang="en-US" dirty="0"/>
              <a:t>：热力图不仅作为输入，还被注入到 </a:t>
            </a:r>
            <a:r>
              <a:rPr lang="en-US" altLang="zh-CN" dirty="0" err="1"/>
              <a:t>ConvNeXt</a:t>
            </a:r>
            <a:r>
              <a:rPr lang="en-US" altLang="zh-CN" dirty="0"/>
              <a:t> </a:t>
            </a:r>
            <a:r>
              <a:rPr lang="zh-CN" altLang="en-US" dirty="0"/>
              <a:t>的不同 </a:t>
            </a:r>
            <a:r>
              <a:rPr lang="en-US" altLang="zh-CN" dirty="0"/>
              <a:t>Stage </a:t>
            </a:r>
            <a:r>
              <a:rPr lang="zh-CN" altLang="en-US" dirty="0"/>
              <a:t>中，确保高层语义特征能与精细的骨架定位信息对齐。</a:t>
            </a:r>
          </a:p>
          <a:p>
            <a:pPr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）注意力融合机制 </a:t>
            </a:r>
            <a:r>
              <a:rPr lang="en-US" altLang="zh-CN" dirty="0"/>
              <a:t>(Attention Fusion)</a:t>
            </a:r>
            <a:r>
              <a:rPr lang="zh-CN" altLang="en-US" dirty="0"/>
              <a:t>：使用 </a:t>
            </a:r>
            <a:r>
              <a:rPr lang="en-US" altLang="zh-CN" dirty="0"/>
              <a:t>Attention </a:t>
            </a:r>
            <a:r>
              <a:rPr lang="zh-CN" altLang="en-US" dirty="0"/>
              <a:t>模块动态调整骨架特征与图像特征的权重，并根据骨架推理的置信度对热力图进行颜色编码绘制。</a:t>
            </a:r>
          </a:p>
          <a:p>
            <a:pPr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）多标签分类头：模型通过 </a:t>
            </a:r>
            <a:r>
              <a:rPr lang="en-US" altLang="zh-CN" dirty="0"/>
              <a:t>8 </a:t>
            </a:r>
            <a:r>
              <a:rPr lang="zh-CN" altLang="en-US" dirty="0"/>
              <a:t>个独立的分类头识别细分异常（如手部异常、脸部异常等），最后通过阈值判定合并为二分类结果，兼顾了细粒度特征学习与最终任务目标。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824226-6D3D-02E1-B45A-D6382F0240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3" t="2561"/>
          <a:stretch>
            <a:fillRect/>
          </a:stretch>
        </p:blipFill>
        <p:spPr>
          <a:xfrm>
            <a:off x="6096000" y="3989735"/>
            <a:ext cx="5479566" cy="238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9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AA22-F4FD-CEEC-1D98-CE1DD71E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B77253F-924E-298B-FCB4-80E47357A7B1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737DB8-6057-A3E1-5A26-536C104FA44C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3CA88D-CBD8-0CC9-4DB3-27FF46BC5696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进展总结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4F8124A-428E-C7B6-4828-E01B2CF5FCEA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9576C4E-2D67-3BB0-6A6A-E4E7C347BACC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722F31B0-8EEB-7323-00EC-BF33FD3A2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70705049-C474-FA54-1B39-1A01210FC5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F7D63D8-6CC9-8B6C-7BFB-49F06D1D96D4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74D466C-FFAB-649E-6ED6-981C322DB3BC}"/>
              </a:ext>
            </a:extLst>
          </p:cNvPr>
          <p:cNvSpPr txBox="1"/>
          <p:nvPr/>
        </p:nvSpPr>
        <p:spPr>
          <a:xfrm>
            <a:off x="265849" y="1185755"/>
            <a:ext cx="46341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核心实验配置</a:t>
            </a:r>
          </a:p>
          <a:p>
            <a:r>
              <a:rPr lang="zh-CN" altLang="en-US" b="1" dirty="0"/>
              <a:t>数据增强</a:t>
            </a:r>
            <a:r>
              <a:rPr lang="zh-CN" altLang="en-US" dirty="0"/>
              <a:t>：采用随机水平翻转、</a:t>
            </a:r>
            <a:r>
              <a:rPr lang="en-US" altLang="zh-CN" dirty="0"/>
              <a:t>±15</a:t>
            </a:r>
            <a:r>
              <a:rPr lang="zh-CN" altLang="en-US" dirty="0"/>
              <a:t>度旋转、亮度</a:t>
            </a:r>
            <a:r>
              <a:rPr lang="en-US" altLang="zh-CN" dirty="0"/>
              <a:t>/</a:t>
            </a:r>
            <a:r>
              <a:rPr lang="zh-CN" altLang="en-US" dirty="0"/>
              <a:t>对比度调节（</a:t>
            </a:r>
            <a:r>
              <a:rPr lang="en-US" altLang="zh-CN" dirty="0"/>
              <a:t>prob=0.5</a:t>
            </a:r>
            <a:r>
              <a:rPr lang="zh-CN" altLang="en-US" dirty="0"/>
              <a:t>）的组合。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损失函数优化</a:t>
            </a:r>
            <a:r>
              <a:rPr lang="zh-CN" altLang="en-US" dirty="0"/>
              <a:t>：使用 </a:t>
            </a:r>
            <a:r>
              <a:rPr lang="en-US" altLang="zh-CN" dirty="0" err="1"/>
              <a:t>BCEWithLogitsLoss</a:t>
            </a:r>
            <a:r>
              <a:rPr lang="zh-CN" altLang="en-US" dirty="0"/>
              <a:t>。针对样本极度不平衡问题，引入了平滑后的类别权重：</a:t>
            </a:r>
            <a:r>
              <a:rPr lang="en-US" altLang="zh-CN" dirty="0" err="1"/>
              <a:t>pos_weight</a:t>
            </a:r>
            <a:r>
              <a:rPr lang="en-US" altLang="zh-CN" dirty="0"/>
              <a:t>=(neg/pos)^0.5</a:t>
            </a:r>
            <a:r>
              <a:rPr lang="zh-CN" altLang="en-US" dirty="0"/>
              <a:t>，并设置最大上限为 </a:t>
            </a:r>
            <a:r>
              <a:rPr lang="en-US" altLang="zh-CN" dirty="0"/>
              <a:t>10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正则化策略</a:t>
            </a:r>
            <a:r>
              <a:rPr lang="zh-CN" altLang="en-US" dirty="0"/>
              <a:t>：经过实验，确定了 </a:t>
            </a:r>
            <a:r>
              <a:rPr lang="en-US" altLang="zh-CN" b="1" dirty="0"/>
              <a:t>Weight Decay = 3e-3</a:t>
            </a:r>
            <a:r>
              <a:rPr lang="zh-CN" altLang="en-US" dirty="0"/>
              <a:t> 和 </a:t>
            </a:r>
            <a:r>
              <a:rPr lang="en-US" altLang="zh-CN" b="1" dirty="0"/>
              <a:t>Dropout = 0.3~0.7</a:t>
            </a:r>
            <a:r>
              <a:rPr lang="zh-CN" altLang="en-US" dirty="0"/>
              <a:t> 的配置，有效缓解了 </a:t>
            </a:r>
            <a:r>
              <a:rPr lang="en-US" altLang="zh-CN" dirty="0" err="1"/>
              <a:t>ConvNeXt</a:t>
            </a:r>
            <a:r>
              <a:rPr lang="en-US" altLang="zh-CN" dirty="0"/>
              <a:t> </a:t>
            </a:r>
            <a:r>
              <a:rPr lang="zh-CN" altLang="en-US" dirty="0"/>
              <a:t>在训练集上的过拟合现象。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0586F4-8354-B763-E60B-CC4205A0E1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53" t="-119" b="-1"/>
          <a:stretch>
            <a:fillRect/>
          </a:stretch>
        </p:blipFill>
        <p:spPr>
          <a:xfrm>
            <a:off x="4900037" y="1369550"/>
            <a:ext cx="3434923" cy="34425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24BCDC-F017-9573-AE4B-9551D27044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040" y="1369549"/>
            <a:ext cx="3458128" cy="344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3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EE1E1-6FE4-029C-8100-6E5CE01A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0A80607-5203-79CB-E75E-0A4FFBDCFD17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1E0C73-716A-9B01-4A99-30441740B7CF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7A9D63-6ED1-00F5-8990-40435B9D9FD5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实验结果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B188E58-DBC3-EDDC-0CC0-9BC836B82DAC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E6EDC55-1CB0-7A36-C3A8-BFFD40E341E7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8BC3E958-CFC4-B7F2-08CD-91A73FA83C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6DCABACC-54C6-5E33-E775-481A4F390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0267CB1-0B2B-C35D-F2B9-7092D9EFDDD3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218FAD9-F4FA-EA30-BA95-EEFE14AF58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59" b="729"/>
          <a:stretch>
            <a:fillRect/>
          </a:stretch>
        </p:blipFill>
        <p:spPr>
          <a:xfrm>
            <a:off x="7187490" y="930395"/>
            <a:ext cx="4859026" cy="29072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82BF35D-28D5-F46E-D661-DAA5D34F5B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31"/>
          <a:stretch>
            <a:fillRect/>
          </a:stretch>
        </p:blipFill>
        <p:spPr>
          <a:xfrm>
            <a:off x="7187490" y="3837612"/>
            <a:ext cx="4859592" cy="285432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8E5BE33-5275-F1D5-186E-BAC1C92D50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63" y="2735252"/>
            <a:ext cx="6477967" cy="38851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616287D-4A0D-EF30-44F9-0F96150D9279}"/>
              </a:ext>
            </a:extLst>
          </p:cNvPr>
          <p:cNvSpPr txBox="1"/>
          <p:nvPr/>
        </p:nvSpPr>
        <p:spPr>
          <a:xfrm>
            <a:off x="294551" y="1132115"/>
            <a:ext cx="609531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经过实验，确定了 </a:t>
            </a:r>
            <a:r>
              <a:rPr lang="en-US" altLang="zh-CN" sz="1400" b="1" dirty="0"/>
              <a:t>Weight Decay = 3e-3</a:t>
            </a:r>
            <a:r>
              <a:rPr lang="zh-CN" altLang="en-US" sz="1400" dirty="0"/>
              <a:t> 和 </a:t>
            </a:r>
            <a:r>
              <a:rPr lang="en-US" altLang="zh-CN" sz="1400" b="1" dirty="0"/>
              <a:t>Dropout = 0.3~0.7</a:t>
            </a:r>
            <a:r>
              <a:rPr lang="zh-CN" altLang="en-US" sz="1400" dirty="0"/>
              <a:t> 的配置，有效缓解了 </a:t>
            </a:r>
            <a:r>
              <a:rPr lang="en-US" altLang="zh-CN" sz="1400" dirty="0" err="1"/>
              <a:t>ConvNeXt</a:t>
            </a:r>
            <a:r>
              <a:rPr lang="en-US" altLang="zh-CN" sz="1400" dirty="0"/>
              <a:t> </a:t>
            </a:r>
            <a:r>
              <a:rPr lang="zh-CN" altLang="en-US" sz="1400" dirty="0"/>
              <a:t>在训练集上的过拟合现象。</a:t>
            </a:r>
            <a:endParaRPr lang="en-US" altLang="zh-CN" sz="1400" dirty="0"/>
          </a:p>
          <a:p>
            <a:r>
              <a:rPr lang="zh-CN" altLang="en-US" sz="1400" dirty="0"/>
              <a:t>性能表现：从实验数据可以看到，模型在 </a:t>
            </a:r>
            <a:r>
              <a:rPr lang="en-US" altLang="zh-CN" sz="1400" dirty="0"/>
              <a:t>Epoch 5 </a:t>
            </a:r>
            <a:r>
              <a:rPr lang="zh-CN" altLang="en-US" sz="1400" dirty="0"/>
              <a:t>达到最优状态</a:t>
            </a:r>
            <a:r>
              <a:rPr lang="en-US" altLang="zh-CN" sz="1400" dirty="0"/>
              <a:t>Val Acc</a:t>
            </a:r>
            <a:r>
              <a:rPr lang="zh-CN" altLang="en-US" sz="1400" dirty="0"/>
              <a:t>为 </a:t>
            </a:r>
            <a:r>
              <a:rPr lang="en-US" altLang="zh-CN" sz="1400" b="1" dirty="0"/>
              <a:t>80.02</a:t>
            </a:r>
            <a:r>
              <a:rPr lang="en-US" altLang="zh-CN" sz="1400" dirty="0"/>
              <a:t>%</a:t>
            </a:r>
            <a:r>
              <a:rPr lang="zh-CN" altLang="en-US" sz="1400" dirty="0"/>
              <a:t>，</a:t>
            </a:r>
            <a:r>
              <a:rPr lang="en-US" altLang="zh-CN" sz="1400" dirty="0"/>
              <a:t>Val Recall</a:t>
            </a:r>
            <a:r>
              <a:rPr lang="zh-CN" altLang="en-US" sz="1400" dirty="0"/>
              <a:t>接近</a:t>
            </a:r>
            <a:r>
              <a:rPr lang="en-US" altLang="zh-CN" sz="1400" b="1" dirty="0"/>
              <a:t>90</a:t>
            </a:r>
            <a:r>
              <a:rPr lang="en-US" altLang="zh-CN" sz="1400" dirty="0"/>
              <a:t>%</a:t>
            </a:r>
            <a:r>
              <a:rPr lang="zh-CN" altLang="en-US" sz="1400" dirty="0"/>
              <a:t>。在</a:t>
            </a:r>
            <a:r>
              <a:rPr lang="en-US" altLang="zh-CN" sz="1400" dirty="0"/>
              <a:t>Val </a:t>
            </a:r>
            <a:r>
              <a:rPr lang="zh-CN" altLang="en-US" sz="1400" dirty="0"/>
              <a:t>上最优的</a:t>
            </a:r>
            <a:r>
              <a:rPr lang="en-US" altLang="zh-CN" sz="1400" dirty="0"/>
              <a:t>checkpoint</a:t>
            </a:r>
            <a:r>
              <a:rPr lang="zh-CN" altLang="en-US" sz="1400" dirty="0"/>
              <a:t>，</a:t>
            </a:r>
            <a:r>
              <a:rPr lang="en-US" altLang="zh-CN" sz="1400" dirty="0"/>
              <a:t>Test</a:t>
            </a:r>
            <a:r>
              <a:rPr lang="zh-CN" altLang="en-US" sz="1400" dirty="0"/>
              <a:t>上</a:t>
            </a:r>
            <a:r>
              <a:rPr lang="en-US" altLang="zh-CN" sz="1400" dirty="0"/>
              <a:t>acc</a:t>
            </a:r>
            <a:r>
              <a:rPr lang="zh-CN" altLang="en-US" sz="1400" dirty="0"/>
              <a:t>为</a:t>
            </a:r>
            <a:r>
              <a:rPr lang="en-US" altLang="zh-CN" sz="1400" b="1" dirty="0"/>
              <a:t>79.80</a:t>
            </a:r>
            <a:r>
              <a:rPr lang="en-US" altLang="zh-CN" sz="1400" dirty="0"/>
              <a:t>%</a:t>
            </a:r>
            <a:endParaRPr lang="zh-CN" altLang="en-US" sz="1400" dirty="0"/>
          </a:p>
          <a:p>
            <a:r>
              <a:rPr lang="zh-CN" altLang="en-US" sz="1400" dirty="0"/>
              <a:t>过拟合：越过第 </a:t>
            </a:r>
            <a:r>
              <a:rPr lang="en-US" altLang="zh-CN" sz="1400" dirty="0"/>
              <a:t>10 </a:t>
            </a:r>
            <a:r>
              <a:rPr lang="zh-CN" altLang="en-US" sz="1400" dirty="0"/>
              <a:t>轮后，虽然训练 </a:t>
            </a:r>
            <a:r>
              <a:rPr lang="en-US" altLang="zh-CN" sz="1400" dirty="0"/>
              <a:t>Loss </a:t>
            </a:r>
            <a:r>
              <a:rPr lang="zh-CN" altLang="en-US" sz="1400" dirty="0"/>
              <a:t>依然在下降（趋于 </a:t>
            </a:r>
            <a:r>
              <a:rPr lang="en-US" altLang="zh-CN" sz="1400" dirty="0"/>
              <a:t>0</a:t>
            </a:r>
            <a:r>
              <a:rPr lang="zh-CN" altLang="en-US" sz="1400" dirty="0"/>
              <a:t>），但验证 </a:t>
            </a:r>
            <a:r>
              <a:rPr lang="en-US" altLang="zh-CN" sz="1400" dirty="0"/>
              <a:t>Loss </a:t>
            </a:r>
            <a:r>
              <a:rPr lang="zh-CN" altLang="en-US" sz="1400" dirty="0"/>
              <a:t>开始剧烈反弹。这表明模型开始过度拟合训练集，失去了泛化到新生成图像的能力。</a:t>
            </a:r>
          </a:p>
        </p:txBody>
      </p:sp>
    </p:spTree>
    <p:extLst>
      <p:ext uri="{BB962C8B-B14F-4D97-AF65-F5344CB8AC3E}">
        <p14:creationId xmlns:p14="http://schemas.microsoft.com/office/powerpoint/2010/main" val="246013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F3F5-6D61-93BD-852C-31550C00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C2135B4-839D-4BD9-A72C-F7F4D775E021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2F9807-E153-3103-A533-183C2683C200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C8A4D8-A294-8311-7B3C-C89C58767503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后续工作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70A48E5-F741-C935-813A-90FBFCAA35CC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C5EEF61-8D07-EE93-1358-C25C9BF73F9D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BE920040-0B7F-C899-085C-26503DD4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470BBB65-C4E0-DA41-34B6-0E687EE5AE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E24F635-2ACD-A096-E7D1-EF84E5A1E248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504AB55-EEAB-8A73-4EB1-CDC12084A547}"/>
              </a:ext>
            </a:extLst>
          </p:cNvPr>
          <p:cNvSpPr txBox="1"/>
          <p:nvPr/>
        </p:nvSpPr>
        <p:spPr>
          <a:xfrm>
            <a:off x="334963" y="1333036"/>
            <a:ext cx="609531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1. </a:t>
            </a:r>
            <a:r>
              <a:rPr lang="zh-CN" altLang="en-US" sz="1400" dirty="0"/>
              <a:t>给骨架注入引入</a:t>
            </a:r>
            <a:r>
              <a:rPr lang="zh-CN" altLang="en-US" sz="1400" b="1" dirty="0"/>
              <a:t>置信度门控</a:t>
            </a:r>
            <a:r>
              <a:rPr lang="zh-CN" altLang="en-US" sz="1400" dirty="0"/>
              <a:t>，使模型能够根据 </a:t>
            </a:r>
            <a:r>
              <a:rPr lang="en-US" altLang="zh-CN" sz="1400" dirty="0" err="1"/>
              <a:t>MMPose</a:t>
            </a:r>
            <a:r>
              <a:rPr lang="en-US" altLang="zh-CN" sz="1400" dirty="0"/>
              <a:t> </a:t>
            </a:r>
            <a:r>
              <a:rPr lang="zh-CN" altLang="en-US" sz="1400" dirty="0"/>
              <a:t>的置信度动态调节骨架信息的注入强度。</a:t>
            </a:r>
          </a:p>
          <a:p>
            <a:r>
              <a:rPr lang="en-US" altLang="zh-CN" sz="1400" dirty="0"/>
              <a:t>2. </a:t>
            </a:r>
            <a:r>
              <a:rPr lang="zh-CN" altLang="en-US" sz="1400" dirty="0"/>
              <a:t>增加</a:t>
            </a:r>
            <a:r>
              <a:rPr lang="zh-CN" altLang="en-US" sz="1400" b="1" dirty="0"/>
              <a:t>多部位</a:t>
            </a:r>
            <a:r>
              <a:rPr lang="zh-CN" altLang="en-US" sz="1400" dirty="0"/>
              <a:t>的切割注入，不只是手部与身体骨架</a:t>
            </a:r>
          </a:p>
          <a:p>
            <a:r>
              <a:rPr lang="en-US" altLang="zh-CN" sz="1400" dirty="0"/>
              <a:t>3. </a:t>
            </a:r>
            <a:r>
              <a:rPr lang="zh-CN" altLang="en-US" sz="1400" dirty="0"/>
              <a:t>优化分类结构，通过共享 </a:t>
            </a:r>
            <a:r>
              <a:rPr lang="en-US" altLang="zh-CN" sz="1400" dirty="0" err="1"/>
              <a:t>LayerNorm</a:t>
            </a:r>
            <a:r>
              <a:rPr lang="en-US" altLang="zh-CN" sz="1400" dirty="0"/>
              <a:t> </a:t>
            </a:r>
            <a:r>
              <a:rPr lang="zh-CN" altLang="en-US" sz="1400" dirty="0"/>
              <a:t>和差异化的 </a:t>
            </a:r>
            <a:r>
              <a:rPr lang="en-US" altLang="zh-CN" sz="1400" dirty="0"/>
              <a:t>Dropout </a:t>
            </a:r>
            <a:r>
              <a:rPr lang="zh-CN" altLang="en-US" sz="1400" dirty="0"/>
              <a:t>来平衡多标签任务与二分类任务的特征表达。后续将配合一致性损失函数 ，进一步解决漏检问题。</a:t>
            </a:r>
            <a:endParaRPr lang="en-US" altLang="zh-CN" sz="1400" dirty="0"/>
          </a:p>
          <a:p>
            <a:r>
              <a:rPr lang="en-US" altLang="zh-CN" sz="1400" dirty="0"/>
              <a:t>4. </a:t>
            </a:r>
            <a:r>
              <a:rPr lang="zh-CN" altLang="en-US" sz="1400" dirty="0"/>
              <a:t>调研学习图像识别其他垂类论文的做法</a:t>
            </a:r>
            <a:endParaRPr lang="en-US" altLang="zh-CN" sz="1400" dirty="0"/>
          </a:p>
          <a:p>
            <a:r>
              <a:rPr lang="en-US" altLang="zh-CN" sz="1400" dirty="0"/>
              <a:t>[1] Qin Q, Liu Y, Tang Q, et al. Adaptive Hypergraph-Augmented Graph Convolution Network for Skeleton-based Action Recognition[C]//Proceedings of the Twelfth International Symposium of Chinese CHI. 2024: 222-230.</a:t>
            </a:r>
          </a:p>
          <a:p>
            <a:r>
              <a:rPr lang="en-US" altLang="zh-CN" sz="1400" dirty="0"/>
              <a:t>[2] Zhang P, Lan C, Xing J, et al. View adaptive neural networks for high performance skeleton-based human action recognition[J]. IEEE transactions on pattern analysis and machine intelligence, 2019, 41(8): 1963-1978.</a:t>
            </a:r>
          </a:p>
          <a:p>
            <a:r>
              <a:rPr lang="en-US" altLang="zh-CN" sz="1400" dirty="0"/>
              <a:t>[3] </a:t>
            </a:r>
            <a:r>
              <a:rPr lang="en-US" altLang="zh-CN" sz="1400" dirty="0" err="1"/>
              <a:t>Pateria</a:t>
            </a:r>
            <a:r>
              <a:rPr lang="en-US" altLang="zh-CN" sz="1400" dirty="0"/>
              <a:t> S, </a:t>
            </a:r>
            <a:r>
              <a:rPr lang="en-US" altLang="zh-CN" sz="1400" dirty="0" err="1"/>
              <a:t>Subagdja</a:t>
            </a:r>
            <a:r>
              <a:rPr lang="en-US" altLang="zh-CN" sz="1400" dirty="0"/>
              <a:t> B, Tan A, et al. Hierarchical reinforcement learning: A comprehensive survey[J]. ACM Computing Surveys (CSUR), 2021, 54(5): 1-35.</a:t>
            </a:r>
          </a:p>
          <a:p>
            <a:r>
              <a:rPr lang="en-US" altLang="zh-CN" sz="1400" dirty="0"/>
              <a:t>[4] Wang J, Sun H, Zhu C. Vision-based autonomous driving: A hierarchical reinforcement learning approach[J]. IEEE Transactions on Vehicular Technology, 2023, 72(9): 11213-11226.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80C8C0-CCCB-9582-0D18-0A51268E8A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1" t="309" r="1407"/>
          <a:stretch>
            <a:fillRect/>
          </a:stretch>
        </p:blipFill>
        <p:spPr>
          <a:xfrm>
            <a:off x="9494584" y="2267549"/>
            <a:ext cx="2362453" cy="21404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B71E948-2C2A-DA4D-8740-0EED4963BC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90" t="1489" r="1983" b="1462"/>
          <a:stretch>
            <a:fillRect/>
          </a:stretch>
        </p:blipFill>
        <p:spPr>
          <a:xfrm>
            <a:off x="6624959" y="1510563"/>
            <a:ext cx="2542131" cy="334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0E8D9-5270-5281-AFBD-EEC63635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01EFEB-9FD8-E910-E71A-4F49C8A01EE7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AB10C2-3764-9316-4F23-3275E91BB204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268026-D6A7-497B-F1AE-3F28D62B9DDC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改进方向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349E865-6767-A9F2-555A-B9DF4B184AC7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54C904E-8521-FC8D-89AD-BB84A09B4C71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3E36B118-0474-470F-7918-45E14F739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313E2816-8BB8-71DC-5ED5-7CC547B685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1FA91CC-8826-7A77-79B6-53A41A085634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06018F5-BC48-C106-880C-CEDB2CF10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780" y="1744276"/>
            <a:ext cx="5674461" cy="20788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06EADD2-A381-B104-EF7F-29B802380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551" y="2338278"/>
            <a:ext cx="5392745" cy="326159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E1B00A6-4FE2-4CB9-6744-944002C2B401}"/>
              </a:ext>
            </a:extLst>
          </p:cNvPr>
          <p:cNvSpPr txBox="1"/>
          <p:nvPr/>
        </p:nvSpPr>
        <p:spPr>
          <a:xfrm>
            <a:off x="294551" y="1144112"/>
            <a:ext cx="57008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针对骨架动作识别中关节之间高阶关系难以建模的问题，引入了</a:t>
            </a:r>
            <a:r>
              <a:rPr lang="zh-CN" altLang="en-US" b="1" dirty="0"/>
              <a:t>超图</a:t>
            </a:r>
            <a:r>
              <a:rPr lang="zh-CN" altLang="en-US" dirty="0"/>
              <a:t>来增强骨架。用超边把多个关节作为一个整体关系建模。同时引入自适应机制，让模型自动学习哪些关节应该被绑在一起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D0E96C-E3B8-1E61-A08A-BDCBC6AD1FF4}"/>
              </a:ext>
            </a:extLst>
          </p:cNvPr>
          <p:cNvSpPr txBox="1"/>
          <p:nvPr/>
        </p:nvSpPr>
        <p:spPr>
          <a:xfrm>
            <a:off x="6195780" y="1144112"/>
            <a:ext cx="5700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在图像识别中引入强化学习或者其他自适应模块，自适应学习图像角度，观察的位置等信息。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7E5BD30-151F-CA29-AB3F-61F570D447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823081"/>
            <a:ext cx="4655376" cy="275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041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4291;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E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4335</TotalTime>
  <Words>801</Words>
  <Application>Microsoft Office PowerPoint</Application>
  <PresentationFormat>宽屏</PresentationFormat>
  <Paragraphs>51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Tarjan Liu</cp:lastModifiedBy>
  <cp:revision>676</cp:revision>
  <dcterms:created xsi:type="dcterms:W3CDTF">2020-11-21T03:02:13Z</dcterms:created>
  <dcterms:modified xsi:type="dcterms:W3CDTF">2026-03-11T05:38:45Z</dcterms:modified>
</cp:coreProperties>
</file>