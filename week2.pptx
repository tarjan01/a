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00" r:id="rId2"/>
    <p:sldId id="3102" r:id="rId3"/>
    <p:sldId id="3100" r:id="rId4"/>
    <p:sldId id="3101" r:id="rId5"/>
    <p:sldId id="309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BA4"/>
    <a:srgbClr val="AFABAB"/>
    <a:srgbClr val="0F3DC5"/>
    <a:srgbClr val="2BA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2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F8055-27CA-4C55-BC23-F9359CE3244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91625-B960-4FA4-9643-9A008D8F6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1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74C1D0-060E-4FCC-91A6-7476A46993C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9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2FB7-E28D-DFB5-359C-07D40AD2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657532-F4B9-9E72-7A37-3B258EEE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89F550-F138-93B3-03E7-0F47FA528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C2AC6-A357-688A-0308-C240CA491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03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13DD-5C8A-3396-BF9F-0D832D1F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C7B8A-58C6-35E8-0CF1-BCEC7EAA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80AA6-DFB2-FD99-5326-179F62F5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6C3225-E067-F398-A280-8543A6F64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91625-B960-4FA4-9643-9A008D8F68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15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04E95-C28C-4865-8BFF-E15BC7F29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3BA2C4-6A62-465D-9859-A6EC58CCD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7E042-E9C0-47C6-8F72-5A6E31E1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42068-7729-4131-9349-2C9AA98E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08A23-9958-47FB-9DA6-A7D6A7E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5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44F6A-BEA3-4829-BA87-1D170340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23E72B-5CFE-4679-8D93-CB917912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28390-902E-46D6-AAD1-5CAC6F4C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89B6D-FF2D-4CF2-B3C7-D4A589C5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F298F-6A75-4555-8309-0DA77122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29C4-4BC7-4D1C-923F-9496B94E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698E6-0411-4214-8D94-B0A1E13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41289-4692-437C-B93E-BEDAD5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6CAEC-6441-46A7-8BEC-EDD2814B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D5173-EC3B-4CA4-9E3D-84194D85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FCE84-631B-4382-B4C9-8A1C21E7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18C5-ABDC-4A53-81D5-A8D5D8895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D59A7-28E3-435E-A74B-D01ACC65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B7DBAE-24BD-44C9-AF96-BD2D6C57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615034-129A-49B6-86F3-AEAF5A46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8710F-8D44-4ABA-8573-2452F1B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0188A-D700-409D-BE1F-2F2B0D9B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7473A-D404-4C74-B566-6E38034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3395-3FFA-4870-AC3C-44F08215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27D04B-C346-41D1-8FEC-A80AA34B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C4B6FE-EDA7-40B1-8441-34577FC4D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2B0929-77AA-49CB-AB9B-CEF9BA5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192131-6D11-451C-A87D-BA5C5F38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B0548-3F2D-4EB1-BE3D-B4889DC7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8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6A9F-3B52-4E20-ABF1-A02C896E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B5F133-9790-4C0C-BDE4-1AA814DD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6C979-3EBC-4160-89D7-5AEFA5AF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59250C-276B-4000-B679-F2821DE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519CF-2247-47FB-A4F0-5E137898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39F0A5-6FFF-48A8-8511-7FE17C3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5EE3-245C-49B5-8F8C-E61B2832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0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FE5AB-235B-49F2-8C30-96987517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D7B-CBDB-4E74-8461-91339A36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B9F42-3D3E-4977-9E31-C7E5A168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BB7CFA-C294-46B1-9CCF-5684E60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F3A9A8-FCD2-4C2E-91BC-DBCD14C2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26A166-5F0F-47E9-BFEF-35A17051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8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94A1B-284C-4868-B171-E77F60CD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D66C86-0CF8-4E32-A933-A5035CD4B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85A24-38B6-4C17-8CE3-D42EA32D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5A0FC-ABA1-425E-9952-DA52635C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8AE56-F084-493B-AD86-53074AD5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ED1D20-B66A-408C-98AC-6CB497C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0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D0E2-89AE-4F91-95C6-B328E8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A87FD-6B6E-4100-99A0-5B9E53CB6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A51A-B308-4DE3-BCF1-FC48B88D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CF7F4-023D-4E0C-BBCC-409FD85E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EE98-D94A-480D-AEF0-60916E0D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5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736A6-5D5C-46C2-BD7E-BED0C2D39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5939D8-8B3D-4C32-B97B-D5A4A549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D972E-0DA1-486D-B54F-00A9E28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BDFB6-AE3A-4D21-8A49-2126353C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92135-B275-4FAE-9A81-DB66A975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EB71-47C6-4326-A2C3-D98D6A2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579BF-3838-432C-B48C-A982AACF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BF249-5457-4BEA-B28C-BDE19428D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EB2F5-E5B9-4F7B-93DF-EF86E88C72B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19342-6EA6-4BFE-A3B1-9B26DAB6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57B64-A415-41D7-8C58-F2D64A53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D723C-B3FE-4FE6-A7AF-4B5224CD5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0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188F525-2E6B-47CA-9C01-06E865ED87C3}"/>
              </a:ext>
            </a:extLst>
          </p:cNvPr>
          <p:cNvSpPr/>
          <p:nvPr/>
        </p:nvSpPr>
        <p:spPr>
          <a:xfrm>
            <a:off x="0" y="1"/>
            <a:ext cx="12192000" cy="6887980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41F30F-EAFE-4510-9017-E617922BC134}"/>
              </a:ext>
            </a:extLst>
          </p:cNvPr>
          <p:cNvSpPr/>
          <p:nvPr/>
        </p:nvSpPr>
        <p:spPr>
          <a:xfrm>
            <a:off x="0" y="1409826"/>
            <a:ext cx="12192000" cy="44997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572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7FFEEA-9F85-408F-A4B4-25BB52A56DD1}"/>
              </a:ext>
            </a:extLst>
          </p:cNvPr>
          <p:cNvSpPr txBox="1"/>
          <p:nvPr/>
        </p:nvSpPr>
        <p:spPr>
          <a:xfrm>
            <a:off x="459695" y="1745706"/>
            <a:ext cx="11482466" cy="2515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飞虎队课题：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AIGC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生成的人物异常检测</a:t>
            </a: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week2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B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985B56C-740E-4BB9-917F-013EAA8474B7}"/>
              </a:ext>
            </a:extLst>
          </p:cNvPr>
          <p:cNvGrpSpPr/>
          <p:nvPr/>
        </p:nvGrpSpPr>
        <p:grpSpPr>
          <a:xfrm>
            <a:off x="8859189" y="146088"/>
            <a:ext cx="2930983" cy="1063161"/>
            <a:chOff x="4285093" y="-6242"/>
            <a:chExt cx="3795135" cy="137661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829C4A2-989C-49C5-8FA9-52CE7290E71E}"/>
                </a:ext>
              </a:extLst>
            </p:cNvPr>
            <p:cNvGrpSpPr/>
            <p:nvPr/>
          </p:nvGrpSpPr>
          <p:grpSpPr>
            <a:xfrm>
              <a:off x="4285093" y="-6242"/>
              <a:ext cx="3795135" cy="1376619"/>
              <a:chOff x="6597847" y="960547"/>
              <a:chExt cx="4882683" cy="1771112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FF3C992-06B7-45C2-B675-3CD9DEBA3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97847" y="960547"/>
                <a:ext cx="1771106" cy="1771112"/>
              </a:xfrm>
              <a:prstGeom prst="rect">
                <a:avLst/>
              </a:prstGeom>
            </p:spPr>
          </p:pic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9C87AC23-9356-4893-BA22-93B73D6302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6891" y="1004505"/>
                <a:ext cx="3073639" cy="1271931"/>
              </a:xfrm>
              <a:prstGeom prst="rect">
                <a:avLst/>
              </a:prstGeom>
            </p:spPr>
          </p:pic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2EE5DB9-DFBD-49B4-848B-2299EA7DBA92}"/>
                </a:ext>
              </a:extLst>
            </p:cNvPr>
            <p:cNvSpPr/>
            <p:nvPr/>
          </p:nvSpPr>
          <p:spPr>
            <a:xfrm>
              <a:off x="5763722" y="1032708"/>
              <a:ext cx="2189819" cy="31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schemeClr val="bg1"/>
                  </a:solidFill>
                  <a:latin typeface="Calibri"/>
                  <a:ea typeface="宋体" panose="02010600030101010101" pitchFamily="2" charset="-122"/>
                </a:rPr>
                <a:t>FUDAN UNIVERSITY</a:t>
              </a:r>
            </a:p>
          </p:txBody>
        </p: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19BC50C-2F63-482E-BB46-0DF7BB7C3E59}"/>
              </a:ext>
            </a:extLst>
          </p:cNvPr>
          <p:cNvSpPr/>
          <p:nvPr/>
        </p:nvSpPr>
        <p:spPr>
          <a:xfrm>
            <a:off x="7879518" y="4718772"/>
            <a:ext cx="2849597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2025-12-30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C223F0-7CE8-41E5-9B50-26980E3A79E2}"/>
              </a:ext>
            </a:extLst>
          </p:cNvPr>
          <p:cNvGrpSpPr/>
          <p:nvPr/>
        </p:nvGrpSpPr>
        <p:grpSpPr>
          <a:xfrm>
            <a:off x="1672740" y="4518194"/>
            <a:ext cx="9056375" cy="112418"/>
            <a:chOff x="2958650" y="4529138"/>
            <a:chExt cx="6390970" cy="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D34CB00-7CBF-41FF-812C-D972CE5ED13F}"/>
                </a:ext>
              </a:extLst>
            </p:cNvPr>
            <p:cNvCxnSpPr>
              <a:cxnSpLocks/>
            </p:cNvCxnSpPr>
            <p:nvPr/>
          </p:nvCxnSpPr>
          <p:spPr>
            <a:xfrm>
              <a:off x="6475751" y="4529138"/>
              <a:ext cx="2873869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104BA4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E22B22-2629-4A30-BF1A-0F9C6F37004E}"/>
                </a:ext>
              </a:extLst>
            </p:cNvPr>
            <p:cNvCxnSpPr>
              <a:cxnSpLocks/>
            </p:cNvCxnSpPr>
            <p:nvPr/>
          </p:nvCxnSpPr>
          <p:spPr>
            <a:xfrm>
              <a:off x="2958650" y="4529138"/>
              <a:ext cx="3681993" cy="0"/>
            </a:xfrm>
            <a:prstGeom prst="line">
              <a:avLst/>
            </a:prstGeom>
            <a:ln w="25400">
              <a:gradFill flip="none" rotWithShape="1">
                <a:gsLst>
                  <a:gs pos="96000">
                    <a:srgbClr val="104BA4"/>
                  </a:gs>
                  <a:gs pos="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1A400646-BDFB-4DBA-9781-0B7716B0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703" y="6271460"/>
            <a:ext cx="3760842" cy="50232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86C27B-57AF-A426-E832-D8932C07074F}"/>
              </a:ext>
            </a:extLst>
          </p:cNvPr>
          <p:cNvSpPr/>
          <p:nvPr/>
        </p:nvSpPr>
        <p:spPr>
          <a:xfrm>
            <a:off x="1287624" y="4718772"/>
            <a:ext cx="3378743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汇报人：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陈可汗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E833E4-E11E-F40F-D8F0-534803E38411}"/>
              </a:ext>
            </a:extLst>
          </p:cNvPr>
          <p:cNvSpPr/>
          <p:nvPr/>
        </p:nvSpPr>
        <p:spPr>
          <a:xfrm>
            <a:off x="4821229" y="4718772"/>
            <a:ext cx="2849595" cy="386016"/>
          </a:xfrm>
          <a:prstGeom prst="roundRect">
            <a:avLst>
              <a:gd name="adj" fmla="val 50000"/>
            </a:avLst>
          </a:prstGeom>
          <a:solidFill>
            <a:srgbClr val="104BA4"/>
          </a:solidFill>
          <a:ln>
            <a:noFill/>
          </a:ln>
          <a:effectLst>
            <a:outerShdw blurRad="457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指导老师：</a:t>
            </a:r>
            <a:r>
              <a:rPr lang="zh-CN" altLang="en-US" sz="16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孙未未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51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891C-87A7-3CC0-23FA-2A4E171F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888B427-D05A-17A2-BADA-FB98CA2025E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ADF3D2-C063-E852-0778-EA42D6F3C9B7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10CCD2-783A-5693-371D-0DE5E80D0C8A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104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BC67981-1197-8AA8-E2FF-F10509673DFD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4A2F43C-D378-BA33-91A3-DF8577C80661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950E07EB-FADF-5DB6-5FD3-906E2410E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AFDFAEF5-6CDF-191D-F95D-0BE84CE795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57AF5E-B72B-49D7-03BD-8825EF178D42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04D085EB-842D-B3F6-779E-EB60D41F6C67}"/>
              </a:ext>
            </a:extLst>
          </p:cNvPr>
          <p:cNvSpPr/>
          <p:nvPr/>
        </p:nvSpPr>
        <p:spPr>
          <a:xfrm>
            <a:off x="1230731" y="1416178"/>
            <a:ext cx="9388846" cy="4496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评估方法</a:t>
            </a: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 OpenS2V-Nexus</a:t>
            </a:r>
            <a:endParaRPr lang="zh-CN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/>
              <a:t>分析单帧使用的方法：用</a:t>
            </a:r>
            <a:r>
              <a:rPr lang="zh-CN" altLang="en-US" sz="1200" b="1" dirty="0"/>
              <a:t>大模型</a:t>
            </a:r>
            <a:r>
              <a:rPr lang="en-US" altLang="zh-CN" sz="1200" b="1" dirty="0"/>
              <a:t>GPT-4o</a:t>
            </a:r>
            <a:r>
              <a:rPr lang="zh-CN" altLang="en-US" sz="1200" b="1" dirty="0"/>
              <a:t>判断</a:t>
            </a:r>
            <a:r>
              <a:rPr lang="zh-CN" altLang="en-US" sz="1200" dirty="0"/>
              <a:t>：视频中的人物肢体是否自然？是否有不符合生理逻辑的扭曲？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endParaRPr lang="en-US" altLang="zh-CN" sz="12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评估方法</a:t>
            </a: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12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AIGCBench</a:t>
            </a: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200" dirty="0"/>
              <a:t>更关注帧与帧之间的相对检测</a:t>
            </a:r>
            <a:endParaRPr lang="en-US" altLang="zh-CN" sz="12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200" dirty="0"/>
              <a:t>使用</a:t>
            </a:r>
            <a:r>
              <a:rPr lang="en-US" altLang="zh-CN" sz="1200" dirty="0"/>
              <a:t>DOVER</a:t>
            </a:r>
            <a:r>
              <a:rPr lang="zh-CN" altLang="en-US" sz="1200" dirty="0"/>
              <a:t>工具对单帧进行技术分析：分析画面的模糊度、噪点和伪影。 </a:t>
            </a:r>
            <a:r>
              <a:rPr lang="en-US" altLang="zh-CN" sz="1200" dirty="0"/>
              <a:t>DOVER </a:t>
            </a:r>
            <a:r>
              <a:rPr lang="zh-CN" altLang="en-US" sz="1200" dirty="0"/>
              <a:t>依然无法识别“少了一根手指”这种逻辑错误。对 </a:t>
            </a:r>
            <a:r>
              <a:rPr lang="en-US" altLang="zh-CN" sz="1200" dirty="0"/>
              <a:t>DOVER </a:t>
            </a:r>
            <a:r>
              <a:rPr lang="zh-CN" altLang="en-US" sz="1200" dirty="0"/>
              <a:t>来说，只要那只少手指的手画得足够清晰、光影正确，它可能依然会给高分。</a:t>
            </a:r>
            <a:endParaRPr lang="en-US" altLang="zh-CN" sz="12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CN" sz="12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评估方法</a:t>
            </a: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 </a:t>
            </a:r>
            <a:r>
              <a:rPr lang="en-US" altLang="zh-CN" sz="1200" b="1" dirty="0" err="1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VBench</a:t>
            </a:r>
            <a:endParaRPr lang="en-US" altLang="zh-CN" sz="1200" b="1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分析单帧使用的方法：</a:t>
            </a: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1200" dirty="0"/>
              <a:t>使用了预训练的</a:t>
            </a:r>
            <a:r>
              <a:rPr lang="zh-CN" altLang="en-US" sz="1200" b="1" dirty="0"/>
              <a:t>动作识别模型（</a:t>
            </a:r>
            <a:r>
              <a:rPr lang="en-US" altLang="zh-CN" sz="1200" b="1" dirty="0"/>
              <a:t>Action Recognition Models</a:t>
            </a:r>
            <a:r>
              <a:rPr lang="zh-CN" altLang="en-US" sz="1200" b="1" dirty="0"/>
              <a:t>）</a:t>
            </a:r>
            <a:r>
              <a:rPr lang="zh-CN" altLang="en-US" sz="1200" dirty="0"/>
              <a:t>。如果生成出的动作得分极低，说明肢体出现了逻辑上的异常</a:t>
            </a: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1200" dirty="0"/>
              <a:t>检查物体的完整轮廓，如果模型检测到一个“人”，但</a:t>
            </a:r>
            <a:r>
              <a:rPr lang="zh-CN" altLang="en-US" sz="1200" b="1" dirty="0"/>
              <a:t>分割结果</a:t>
            </a:r>
            <a:r>
              <a:rPr lang="zh-CN" altLang="en-US" sz="1200" dirty="0"/>
              <a:t>显示的轮廓不符合标准的人体几何结构，就会被判定为 </a:t>
            </a:r>
            <a:r>
              <a:rPr lang="en-US" altLang="zh-CN" sz="1200" dirty="0"/>
              <a:t>Integrity </a:t>
            </a:r>
            <a:r>
              <a:rPr lang="zh-CN" altLang="en-US" sz="1200" dirty="0"/>
              <a:t>异常。</a:t>
            </a:r>
            <a:endParaRPr lang="en-US" altLang="zh-CN" sz="12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评估方法</a:t>
            </a: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 wan-bench</a:t>
            </a:r>
            <a:r>
              <a:rPr lang="zh-CN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，通义万象使用的</a:t>
            </a:r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benchmark</a:t>
            </a:r>
            <a:endParaRPr lang="zh-CN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200" dirty="0"/>
              <a:t>分析单帧使用的方法：结合</a:t>
            </a:r>
            <a:r>
              <a:rPr lang="en-US" altLang="zh-CN" sz="1200" dirty="0" err="1"/>
              <a:t>Vbench</a:t>
            </a:r>
            <a:r>
              <a:rPr lang="zh-CN" altLang="en-US" sz="1200" dirty="0"/>
              <a:t>的结果，调用</a:t>
            </a:r>
            <a:r>
              <a:rPr lang="zh-CN" altLang="en-US" sz="1200" b="1" dirty="0"/>
              <a:t>大模型判断：</a:t>
            </a:r>
            <a:r>
              <a:rPr lang="en-US" altLang="zh-CN" sz="1200" b="1" dirty="0"/>
              <a:t> Qwen-VL </a:t>
            </a:r>
            <a:r>
              <a:rPr lang="zh-CN" altLang="en-US" sz="1200" b="1" dirty="0"/>
              <a:t>或 </a:t>
            </a:r>
            <a:r>
              <a:rPr lang="en-US" altLang="zh-CN" sz="1200" b="1" dirty="0"/>
              <a:t>GPT-4o</a:t>
            </a:r>
            <a:r>
              <a:rPr lang="zh-CN" altLang="en-US" sz="1200" dirty="0"/>
              <a:t>，直接给大模型输入视频，询问：“这个人的手部动作是否合理？是否存在肢体重影或畸形？”</a:t>
            </a:r>
            <a:endParaRPr lang="zh-CN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89242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5846-F841-5227-6256-61D1BD0E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56A8B10-3FC2-9BA2-36E4-49A37BB1752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EE5D3D-0890-B7F4-413B-52497B1C2FD7}"/>
              </a:ext>
            </a:extLst>
          </p:cNvPr>
          <p:cNvSpPr txBox="1"/>
          <p:nvPr/>
        </p:nvSpPr>
        <p:spPr>
          <a:xfrm>
            <a:off x="324531" y="290227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DC6F32-6E64-D25A-11C3-CD91C6948045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研究现状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EF5409-E33D-05DC-96B4-95D596E1625C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1687446-9F2C-E489-CA39-BF15134160D0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4096C1FD-D890-325C-1BC5-879D40E41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1FA1B2FD-8BEF-37BA-7992-8187BFE1B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2204152-FF2F-B4AB-1AA0-A838D9FDD024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C262C8BE-BEF9-0899-A63B-F35596F48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8210853-BA0E-2EC5-CAE5-8F282E1BDC3E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3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EBEE8B0D-FEEE-EFD9-F7B4-934EC1E94564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9614B6-954E-9B01-BD23-EAE3B8E5D68B}"/>
              </a:ext>
            </a:extLst>
          </p:cNvPr>
          <p:cNvSpPr txBox="1"/>
          <p:nvPr/>
        </p:nvSpPr>
        <p:spPr>
          <a:xfrm>
            <a:off x="4405392" y="361783"/>
            <a:ext cx="359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大模型判断能力偏弱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F51464-0D1F-E936-EBF6-D887DCF14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507" y="1572645"/>
            <a:ext cx="4660062" cy="4175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98C51A-09D3-5454-3B1A-64704CDBFA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0159" y="1059506"/>
            <a:ext cx="4610271" cy="53984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A80F0DF-1129-D3E1-707F-DBEF8A74AD06}"/>
              </a:ext>
            </a:extLst>
          </p:cNvPr>
          <p:cNvSpPr txBox="1"/>
          <p:nvPr/>
        </p:nvSpPr>
        <p:spPr>
          <a:xfrm>
            <a:off x="1852554" y="1132115"/>
            <a:ext cx="359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GPT</a:t>
            </a:r>
            <a:r>
              <a:rPr lang="zh-CN" altLang="en-US" dirty="0"/>
              <a:t>：全部正常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564DC-CC82-AC5E-89D2-4438589A7A73}"/>
              </a:ext>
            </a:extLst>
          </p:cNvPr>
          <p:cNvSpPr txBox="1"/>
          <p:nvPr/>
        </p:nvSpPr>
        <p:spPr>
          <a:xfrm>
            <a:off x="8598090" y="2240825"/>
            <a:ext cx="359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gemini</a:t>
            </a:r>
            <a:r>
              <a:rPr lang="zh-CN" altLang="en-US" dirty="0"/>
              <a:t>：全部异常</a:t>
            </a:r>
          </a:p>
        </p:txBody>
      </p:sp>
    </p:spTree>
    <p:extLst>
      <p:ext uri="{BB962C8B-B14F-4D97-AF65-F5344CB8AC3E}">
        <p14:creationId xmlns:p14="http://schemas.microsoft.com/office/powerpoint/2010/main" val="64714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27D8-3186-7E2B-9912-0D9965B7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FB4C7D1-7713-60AD-9A2F-CD665A35ACAA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444125-8D31-068F-B153-4397356E006C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F5F1C1-EF74-7AAF-3803-AA74CBD3DE0C}"/>
              </a:ext>
            </a:extLst>
          </p:cNvPr>
          <p:cNvSpPr txBox="1"/>
          <p:nvPr/>
        </p:nvSpPr>
        <p:spPr>
          <a:xfrm>
            <a:off x="1388075" y="212563"/>
            <a:ext cx="452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baseline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4BA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689FB15-3293-F68C-039B-B5FF5242645E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207D6AA-0224-C158-8055-98C3DC6E5ECD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7AECABF-EA0B-1F62-7EDF-F9035654E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FF18227-E352-D9D8-8F91-14849128F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5BBFC5-B523-BDDB-A4AD-3AD7ABB01855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3A1CD9BE-8300-7B05-90E6-BBFF7BC0C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C801B0D7-ED84-C66E-572F-74FCA4344651}"/>
              </a:ext>
            </a:extLst>
          </p:cNvPr>
          <p:cNvSpPr txBox="1">
            <a:spLocks/>
          </p:cNvSpPr>
          <p:nvPr/>
        </p:nvSpPr>
        <p:spPr>
          <a:xfrm>
            <a:off x="8953500" y="6521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4FB6C8-7C8F-4A07-82BA-70423D8EE858}" type="slidenum">
              <a:rPr lang="zh-CN" altLang="en-US" smtClean="0">
                <a:solidFill>
                  <a:prstClr val="white">
                    <a:lumMod val="50000"/>
                  </a:prstClr>
                </a:solidFill>
                <a:latin typeface="Arial"/>
              </a:rPr>
              <a:pPr/>
              <a:t>4</a:t>
            </a:fld>
            <a:endParaRPr lang="zh-CN" altLang="en-US">
              <a:solidFill>
                <a:prstClr val="white">
                  <a:lumMod val="50000"/>
                </a:prstClr>
              </a:solidFill>
              <a:latin typeface="Arial"/>
            </a:endParaRPr>
          </a:p>
        </p:txBody>
      </p:sp>
      <p:sp>
        <p:nvSpPr>
          <p:cNvPr id="47" name="iş1îḓè">
            <a:extLst>
              <a:ext uri="{FF2B5EF4-FFF2-40B4-BE49-F238E27FC236}">
                <a16:creationId xmlns:a16="http://schemas.microsoft.com/office/drawing/2014/main" id="{7F768279-094C-A1F4-5163-F204124BCFC0}"/>
              </a:ext>
            </a:extLst>
          </p:cNvPr>
          <p:cNvSpPr txBox="1"/>
          <p:nvPr/>
        </p:nvSpPr>
        <p:spPr bwMode="auto">
          <a:xfrm>
            <a:off x="6450159" y="3491485"/>
            <a:ext cx="2007132" cy="35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600" b="1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在此输入标题</a:t>
            </a:r>
            <a:endParaRPr lang="en-US" altLang="zh-CN" sz="1600" b="1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BA94B2-25C4-9BDA-5E17-4284EA6FD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67489"/>
            <a:ext cx="8502469" cy="528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4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59BA-BD9B-6153-71D8-E06994CD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E9F26FE-6C74-D66C-C3E5-DEFE93F70050}"/>
              </a:ext>
            </a:extLst>
          </p:cNvPr>
          <p:cNvSpPr/>
          <p:nvPr/>
        </p:nvSpPr>
        <p:spPr>
          <a:xfrm>
            <a:off x="334963" y="1"/>
            <a:ext cx="895768" cy="1132114"/>
          </a:xfrm>
          <a:prstGeom prst="rect">
            <a:avLst/>
          </a:prstGeom>
          <a:solidFill>
            <a:srgbClr val="104BA4"/>
          </a:solidFill>
          <a:ln>
            <a:noFill/>
          </a:ln>
          <a:effectLst>
            <a:outerShdw blurRad="3302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D50E3F-3879-9DD3-EC89-ACB5DFF18B5D}"/>
              </a:ext>
            </a:extLst>
          </p:cNvPr>
          <p:cNvSpPr txBox="1"/>
          <p:nvPr/>
        </p:nvSpPr>
        <p:spPr>
          <a:xfrm>
            <a:off x="294551" y="284064"/>
            <a:ext cx="97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45B881-D7DD-3B3B-C8C6-42E3EA00E6F8}"/>
              </a:ext>
            </a:extLst>
          </p:cNvPr>
          <p:cNvSpPr txBox="1"/>
          <p:nvPr/>
        </p:nvSpPr>
        <p:spPr>
          <a:xfrm>
            <a:off x="1388075" y="212563"/>
            <a:ext cx="363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04BA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改进思路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63BC22-12DA-A8FF-7431-1FE04BE9B302}"/>
              </a:ext>
            </a:extLst>
          </p:cNvPr>
          <p:cNvGrpSpPr/>
          <p:nvPr/>
        </p:nvGrpSpPr>
        <p:grpSpPr>
          <a:xfrm>
            <a:off x="9796257" y="238208"/>
            <a:ext cx="1964493" cy="708062"/>
            <a:chOff x="4246274" y="-10895"/>
            <a:chExt cx="3940182" cy="14201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5308C9-7FF3-FEFF-E130-F509343B2999}"/>
                </a:ext>
              </a:extLst>
            </p:cNvPr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8A886638-2B5D-9773-061C-B8E8B6258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C59F2B78-21FE-B868-0852-CBFF5039D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E17D1EF-9AC1-4C44-8377-86342974E386}"/>
                </a:ext>
              </a:extLst>
            </p:cNvPr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FUDAN UNIVERSITY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FFA8CC7C-737A-C84C-029F-086F223A1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531" y="6390655"/>
            <a:ext cx="2744391" cy="36656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294755D-A5A5-8A12-AFBB-7D87958AA0B9}"/>
              </a:ext>
            </a:extLst>
          </p:cNvPr>
          <p:cNvSpPr txBox="1"/>
          <p:nvPr/>
        </p:nvSpPr>
        <p:spPr>
          <a:xfrm>
            <a:off x="13785941" y="6372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FB238DE-CD59-E9E6-0045-87C53A90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01" y="2373329"/>
            <a:ext cx="4445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1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4A451E2B-82D8-DF09-574D-3DBDC2C68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746" y="2584857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2509F-9C87-2ED7-D9D3-1EF3FE6C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613" y="263021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DFB01381-32D8-3D61-7D56-31433B144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9942" y="2676658"/>
            <a:ext cx="444500" cy="40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2200" dirty="0">
                <a:solidFill>
                  <a:srgbClr val="FFFFFF"/>
                </a:solidFill>
                <a:latin typeface="Microsoft JhengHei UI" panose="020B0604030504040204" pitchFamily="34" charset="-120"/>
                <a:ea typeface="微软雅黑" pitchFamily="34" charset="-122"/>
                <a:sym typeface="Microsoft JhengHei UI" panose="020B0604030504040204" pitchFamily="34" charset="-120"/>
              </a:rPr>
              <a:t>3</a:t>
            </a:r>
            <a:endParaRPr lang="zh-CN" altLang="en-US" dirty="0">
              <a:solidFill>
                <a:srgbClr val="FFFFFF"/>
              </a:solidFill>
              <a:latin typeface="Microsoft JhengHei UI" panose="020B0604030504040204" pitchFamily="34" charset="-120"/>
              <a:ea typeface="微软雅黑" panose="020B0503020204020204" pitchFamily="34" charset="-122"/>
              <a:sym typeface="Microsoft JhengHei UI" panose="020B0604030504040204" pitchFamily="34" charset="-12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953D84-A900-3C8D-607F-33AD1C5CAF2B}"/>
              </a:ext>
            </a:extLst>
          </p:cNvPr>
          <p:cNvSpPr txBox="1"/>
          <p:nvPr/>
        </p:nvSpPr>
        <p:spPr>
          <a:xfrm>
            <a:off x="1177817" y="3209242"/>
            <a:ext cx="84173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 err="1"/>
              <a:t>resnet</a:t>
            </a:r>
            <a:r>
              <a:rPr lang="zh-CN" altLang="en-US" dirty="0"/>
              <a:t>的方案几乎做到头：</a:t>
            </a:r>
            <a:r>
              <a:rPr lang="en-US" altLang="zh-CN" b="1" dirty="0"/>
              <a:t>recall 85+</a:t>
            </a:r>
            <a:r>
              <a:rPr lang="zh-CN" altLang="en-US" b="1" dirty="0"/>
              <a:t>，</a:t>
            </a:r>
            <a:r>
              <a:rPr lang="en-US" altLang="zh-CN" b="1" dirty="0"/>
              <a:t>acc 70</a:t>
            </a:r>
            <a:r>
              <a:rPr lang="zh-CN" altLang="en-US" b="1" dirty="0"/>
              <a:t>左右</a:t>
            </a:r>
            <a:r>
              <a:rPr lang="zh-CN" altLang="en-US" dirty="0"/>
              <a:t>。可以作为</a:t>
            </a:r>
            <a:r>
              <a:rPr lang="zh-CN" altLang="en-US" b="1" dirty="0"/>
              <a:t>初步</a:t>
            </a:r>
            <a:r>
              <a:rPr lang="en-US" altLang="zh-CN" b="1" dirty="0"/>
              <a:t>baseline</a:t>
            </a:r>
            <a:r>
              <a:rPr lang="zh-CN" altLang="en-US" dirty="0"/>
              <a:t>。后续可能还有一些调参的工作，例如</a:t>
            </a:r>
            <a:r>
              <a:rPr lang="en-US" altLang="zh-CN" dirty="0" err="1"/>
              <a:t>weight_decay</a:t>
            </a:r>
            <a:r>
              <a:rPr lang="zh-CN" altLang="en-US" dirty="0"/>
              <a:t>，</a:t>
            </a:r>
            <a:r>
              <a:rPr lang="en-US" altLang="zh-CN" dirty="0" err="1"/>
              <a:t>pos_weight</a:t>
            </a:r>
            <a:r>
              <a:rPr lang="zh-CN" altLang="en-US" dirty="0"/>
              <a:t>（各类型的样本的权重），</a:t>
            </a:r>
            <a:r>
              <a:rPr lang="en-US" altLang="zh-CN" dirty="0"/>
              <a:t>threshold</a:t>
            </a:r>
            <a:r>
              <a:rPr lang="zh-CN" altLang="en-US" dirty="0"/>
              <a:t>，等等。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计划借鉴前面工作中的思路：</a:t>
            </a:r>
            <a:endParaRPr lang="en-US" altLang="zh-CN" dirty="0"/>
          </a:p>
          <a:p>
            <a:r>
              <a:rPr lang="zh-CN" altLang="en-US" dirty="0"/>
              <a:t>增加模型输入通道数，在图像的通道以外，把</a:t>
            </a:r>
            <a:r>
              <a:rPr lang="zh-CN" altLang="en-US" b="1" dirty="0"/>
              <a:t>动作识别模型、人物轮廓或骨架</a:t>
            </a:r>
            <a:r>
              <a:rPr lang="zh-CN" altLang="en-US" dirty="0"/>
              <a:t>加入到模型输入当中作为额外信息。这一步可能引入</a:t>
            </a:r>
            <a:r>
              <a:rPr lang="en-US" altLang="zh-CN" b="1" dirty="0"/>
              <a:t>yolo</a:t>
            </a:r>
            <a:r>
              <a:rPr lang="zh-CN" altLang="en-US" dirty="0"/>
              <a:t>模型做分割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2174BC7-8EE6-D00B-23E2-CE67821522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23" t="1991" r="2558" b="3552"/>
          <a:stretch>
            <a:fillRect/>
          </a:stretch>
        </p:blipFill>
        <p:spPr>
          <a:xfrm>
            <a:off x="941255" y="1460744"/>
            <a:ext cx="7734300" cy="164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044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4291;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E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4007</TotalTime>
  <Words>423</Words>
  <Application>Microsoft Office PowerPoint</Application>
  <PresentationFormat>宽屏</PresentationFormat>
  <Paragraphs>50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Microsoft JhengHei UI</vt:lpstr>
      <vt:lpstr>等线</vt:lpstr>
      <vt:lpstr>等线 Light</vt:lpstr>
      <vt:lpstr>思源黑体 CN Light</vt:lpstr>
      <vt:lpstr>微软雅黑</vt:lpstr>
      <vt:lpstr>Arial</vt:lpstr>
      <vt:lpstr>Calibri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Tarjan Liu</cp:lastModifiedBy>
  <cp:revision>360</cp:revision>
  <dcterms:created xsi:type="dcterms:W3CDTF">2020-11-21T03:02:13Z</dcterms:created>
  <dcterms:modified xsi:type="dcterms:W3CDTF">2025-12-29T08:44:36Z</dcterms:modified>
</cp:coreProperties>
</file>