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00" r:id="rId2"/>
    <p:sldId id="301" r:id="rId3"/>
    <p:sldId id="303" r:id="rId4"/>
    <p:sldId id="3100" r:id="rId5"/>
    <p:sldId id="3101" r:id="rId6"/>
    <p:sldId id="3098" r:id="rId7"/>
    <p:sldId id="309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BA4"/>
    <a:srgbClr val="AFABAB"/>
    <a:srgbClr val="0F3DC5"/>
    <a:srgbClr val="2BA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0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20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F8055-27CA-4C55-BC23-F9359CE3244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91625-B960-4FA4-9643-9A008D8F6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1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4C1D0-060E-4FCC-91A6-7476A46993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9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342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12FB7-E28D-DFB5-359C-07D40AD24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657532-F4B9-9E72-7A37-3B258EEEF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89F550-F138-93B3-03E7-0F47FA528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BC2AC6-A357-688A-0308-C240CA491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03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13DD-5C8A-3396-BF9F-0D832D1F7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DC7B8A-58C6-35E8-0CF1-BCEC7EAAD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E80AA6-DFB2-FD99-5326-179F62F55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6C3225-E067-F398-A280-8543A6F64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915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04E95-C28C-4865-8BFF-E15BC7F29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3BA2C4-6A62-465D-9859-A6EC58CCD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7E042-E9C0-47C6-8F72-5A6E31E1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42068-7729-4131-9349-2C9AA98E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08A23-9958-47FB-9DA6-A7D6A7EA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56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44F6A-BEA3-4829-BA87-1D170340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3E72B-5CFE-4679-8D93-CB917912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28390-902E-46D6-AAD1-5CAC6F4C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89B6D-FF2D-4CF2-B3C7-D4A589C5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F298F-6A75-4555-8309-0DA77122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129C4-4BC7-4D1C-923F-9496B94E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8698E6-0411-4214-8D94-B0A1E13D8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41289-4692-437C-B93E-BEDAD521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6CAEC-6441-46A7-8BEC-EDD2814B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2D5173-EC3B-4CA4-9E3D-84194D85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8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FCE84-631B-4382-B4C9-8A1C21E7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D18C5-ABDC-4A53-81D5-A8D5D8895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D59A7-28E3-435E-A74B-D01ACC655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7DBAE-24BD-44C9-AF96-BD2D6C57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615034-129A-49B6-86F3-AEAF5A46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8710F-8D44-4ABA-8573-2452F1B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5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0188A-D700-409D-BE1F-2F2B0D9B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7473A-D404-4C74-B566-6E38034F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43395-3FFA-4870-AC3C-44F08215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27D04B-C346-41D1-8FEC-A80AA34B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C4B6FE-EDA7-40B1-8441-34577FC4D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B0929-77AA-49CB-AB9B-CEF9BA5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192131-6D11-451C-A87D-BA5C5F38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3B0548-3F2D-4EB1-BE3D-B4889DC7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8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F6A9F-3B52-4E20-ABF1-A02C896E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B5F133-9790-4C0C-BDE4-1AA814DD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6C979-3EBC-4160-89D7-5AEFA5AF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59250C-276B-4000-B679-F2821DEC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7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C519CF-2247-47FB-A4F0-5E137898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39F0A5-6FFF-48A8-8511-7FE17C37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85EE3-245C-49B5-8F8C-E61B2832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04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FE5AB-235B-49F2-8C30-96987517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31D7B-CBDB-4E74-8461-91339A36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B9F42-3D3E-4977-9E31-C7E5A168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BB7CFA-C294-46B1-9CCF-5684E60E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F3A9A8-FCD2-4C2E-91BC-DBCD14C2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26A166-5F0F-47E9-BFEF-35A17051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8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94A1B-284C-4868-B171-E77F60CD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D66C86-0CF8-4E32-A933-A5035CD4B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A85A24-38B6-4C17-8CE3-D42EA32DD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5A0FC-ABA1-425E-9952-DA52635C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8AE56-F084-493B-AD86-53074AD5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ED1D20-B66A-408C-98AC-6CB497CF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90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DD0E2-89AE-4F91-95C6-B328E86D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A87FD-6B6E-4100-99A0-5B9E53CB6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9A51A-B308-4DE3-BCF1-FC48B88D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CF7F4-023D-4E0C-BBCC-409FD85E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7EE98-D94A-480D-AEF0-60916E0D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5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6736A6-5D5C-46C2-BD7E-BED0C2D39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5939D8-8B3D-4C32-B97B-D5A4A549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D972E-0DA1-486D-B54F-00A9E287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BDFB6-AE3A-4D21-8A49-2126353C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92135-B275-4FAE-9A81-DB66A975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8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91EB71-47C6-4326-A2C3-D98D6A21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579BF-3838-432C-B48C-A982AACF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BF249-5457-4BEA-B28C-BDE19428D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EB2F5-E5B9-4F7B-93DF-EF86E88C72B4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19342-6EA6-4BFE-A3B1-9B26DAB6E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57B64-A415-41D7-8C58-F2D64A53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0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4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4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188F525-2E6B-47CA-9C01-06E865ED87C3}"/>
              </a:ext>
            </a:extLst>
          </p:cNvPr>
          <p:cNvSpPr/>
          <p:nvPr/>
        </p:nvSpPr>
        <p:spPr>
          <a:xfrm>
            <a:off x="0" y="1"/>
            <a:ext cx="12192000" cy="6887980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41F30F-EAFE-4510-9017-E617922BC134}"/>
              </a:ext>
            </a:extLst>
          </p:cNvPr>
          <p:cNvSpPr/>
          <p:nvPr/>
        </p:nvSpPr>
        <p:spPr>
          <a:xfrm>
            <a:off x="0" y="1409826"/>
            <a:ext cx="12192000" cy="44997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572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7FFEEA-9F85-408F-A4B4-25BB52A56DD1}"/>
              </a:ext>
            </a:extLst>
          </p:cNvPr>
          <p:cNvSpPr txBox="1"/>
          <p:nvPr/>
        </p:nvSpPr>
        <p:spPr>
          <a:xfrm>
            <a:off x="459695" y="1745706"/>
            <a:ext cx="11482466" cy="2515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飞虎队课题：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AIGC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生成的人物异常检测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week1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985B56C-740E-4BB9-917F-013EAA8474B7}"/>
              </a:ext>
            </a:extLst>
          </p:cNvPr>
          <p:cNvGrpSpPr/>
          <p:nvPr/>
        </p:nvGrpSpPr>
        <p:grpSpPr>
          <a:xfrm>
            <a:off x="8859189" y="146088"/>
            <a:ext cx="2930983" cy="1063161"/>
            <a:chOff x="4285093" y="-6242"/>
            <a:chExt cx="3795135" cy="137661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829C4A2-989C-49C5-8FA9-52CE7290E71E}"/>
                </a:ext>
              </a:extLst>
            </p:cNvPr>
            <p:cNvGrpSpPr/>
            <p:nvPr/>
          </p:nvGrpSpPr>
          <p:grpSpPr>
            <a:xfrm>
              <a:off x="4285093" y="-6242"/>
              <a:ext cx="3795135" cy="1376619"/>
              <a:chOff x="6597847" y="960547"/>
              <a:chExt cx="4882683" cy="1771112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CFF3C992-06B7-45C2-B675-3CD9DEBA3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97847" y="960547"/>
                <a:ext cx="1771106" cy="1771112"/>
              </a:xfrm>
              <a:prstGeom prst="rect">
                <a:avLst/>
              </a:prstGeom>
            </p:spPr>
          </p:pic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9C87AC23-9356-4893-BA22-93B73D6302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06891" y="1004505"/>
                <a:ext cx="3073639" cy="1271931"/>
              </a:xfrm>
              <a:prstGeom prst="rect">
                <a:avLst/>
              </a:prstGeom>
            </p:spPr>
          </p:pic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2EE5DB9-DFBD-49B4-848B-2299EA7DBA92}"/>
                </a:ext>
              </a:extLst>
            </p:cNvPr>
            <p:cNvSpPr/>
            <p:nvPr/>
          </p:nvSpPr>
          <p:spPr>
            <a:xfrm>
              <a:off x="5763722" y="1032708"/>
              <a:ext cx="2189819" cy="318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000" b="1" dirty="0">
                  <a:solidFill>
                    <a:schemeClr val="bg1"/>
                  </a:solidFill>
                  <a:latin typeface="Calibri"/>
                  <a:ea typeface="宋体" panose="02010600030101010101" pitchFamily="2" charset="-122"/>
                </a:rPr>
                <a:t>FUDAN UNIVERSITY</a:t>
              </a:r>
            </a:p>
          </p:txBody>
        </p: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19BC50C-2F63-482E-BB46-0DF7BB7C3E59}"/>
              </a:ext>
            </a:extLst>
          </p:cNvPr>
          <p:cNvSpPr/>
          <p:nvPr/>
        </p:nvSpPr>
        <p:spPr>
          <a:xfrm>
            <a:off x="7879518" y="4718772"/>
            <a:ext cx="2849597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2025-12-23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C223F0-7CE8-41E5-9B50-26980E3A79E2}"/>
              </a:ext>
            </a:extLst>
          </p:cNvPr>
          <p:cNvGrpSpPr/>
          <p:nvPr/>
        </p:nvGrpSpPr>
        <p:grpSpPr>
          <a:xfrm>
            <a:off x="1672740" y="4518194"/>
            <a:ext cx="9056375" cy="112418"/>
            <a:chOff x="2958650" y="4529138"/>
            <a:chExt cx="6390970" cy="0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D34CB00-7CBF-41FF-812C-D972CE5ED13F}"/>
                </a:ext>
              </a:extLst>
            </p:cNvPr>
            <p:cNvCxnSpPr>
              <a:cxnSpLocks/>
            </p:cNvCxnSpPr>
            <p:nvPr/>
          </p:nvCxnSpPr>
          <p:spPr>
            <a:xfrm>
              <a:off x="6475751" y="4529138"/>
              <a:ext cx="2873869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104BA4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2E22B22-2629-4A30-BF1A-0F9C6F37004E}"/>
                </a:ext>
              </a:extLst>
            </p:cNvPr>
            <p:cNvCxnSpPr>
              <a:cxnSpLocks/>
            </p:cNvCxnSpPr>
            <p:nvPr/>
          </p:nvCxnSpPr>
          <p:spPr>
            <a:xfrm>
              <a:off x="2958650" y="4529138"/>
              <a:ext cx="3681993" cy="0"/>
            </a:xfrm>
            <a:prstGeom prst="line">
              <a:avLst/>
            </a:prstGeom>
            <a:ln w="25400">
              <a:gradFill flip="none" rotWithShape="1">
                <a:gsLst>
                  <a:gs pos="96000">
                    <a:srgbClr val="104BA4"/>
                  </a:gs>
                  <a:gs pos="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1A400646-BDFB-4DBA-9781-0B7716B06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703" y="6271460"/>
            <a:ext cx="3760842" cy="502327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0286C27B-57AF-A426-E832-D8932C07074F}"/>
              </a:ext>
            </a:extLst>
          </p:cNvPr>
          <p:cNvSpPr/>
          <p:nvPr/>
        </p:nvSpPr>
        <p:spPr>
          <a:xfrm>
            <a:off x="1287624" y="4718772"/>
            <a:ext cx="3378743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汇报人：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刘皓蓝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E833E4-E11E-F40F-D8F0-534803E38411}"/>
              </a:ext>
            </a:extLst>
          </p:cNvPr>
          <p:cNvSpPr/>
          <p:nvPr/>
        </p:nvSpPr>
        <p:spPr>
          <a:xfrm>
            <a:off x="4821229" y="4718772"/>
            <a:ext cx="2849595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指导老师：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孙未未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51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115E8AC-C08D-4D97-B63D-DB5783E80299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65E3F0-4C57-4F6E-8273-50E0C8CA3AF5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799E2C-F0E3-4F73-9583-CDEE75F669A8}"/>
              </a:ext>
            </a:extLst>
          </p:cNvPr>
          <p:cNvSpPr txBox="1"/>
          <p:nvPr/>
        </p:nvSpPr>
        <p:spPr>
          <a:xfrm>
            <a:off x="1388075" y="212563"/>
            <a:ext cx="363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研究现状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04BA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E77082F-F6D3-44A0-83B0-9D4B790C461E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A9422BF-CEFE-43F1-AAD1-F3F469D85552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D22ED958-0555-4B51-986A-1CB5E9A5E7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973B3AFE-8248-41BC-96D0-026FF8CD8C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2CDBC52-45E9-415A-A382-A9F0DF6D4D0F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FCF5991-E774-2CB9-27F0-785BBB6FA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2517" r="-5072" b="54899"/>
          <a:stretch>
            <a:fillRect/>
          </a:stretch>
        </p:blipFill>
        <p:spPr>
          <a:xfrm>
            <a:off x="-36561" y="930395"/>
            <a:ext cx="5946036" cy="59389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8C2411-DFEB-EAB8-9B17-BD1F0905CF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5442" r="-5672"/>
          <a:stretch>
            <a:fillRect/>
          </a:stretch>
        </p:blipFill>
        <p:spPr>
          <a:xfrm>
            <a:off x="5543144" y="1090"/>
            <a:ext cx="6036145" cy="68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5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115E8AC-C08D-4D97-B63D-DB5783E80299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65E3F0-4C57-4F6E-8273-50E0C8CA3AF5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799E2C-F0E3-4F73-9583-CDEE75F669A8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研究现状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E77082F-F6D3-44A0-83B0-9D4B790C461E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A9422BF-CEFE-43F1-AAD1-F3F469D85552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D22ED958-0555-4B51-986A-1CB5E9A5E7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973B3AFE-8248-41BC-96D0-026FF8CD8C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2CDBC52-45E9-415A-A382-A9F0DF6D4D0F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387C3E2C-C073-430A-B941-AFBA52F9CD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7FEBCE3E-4742-40F7-9404-B76EDFB7AE04}"/>
              </a:ext>
            </a:extLst>
          </p:cNvPr>
          <p:cNvSpPr txBox="1">
            <a:spLocks/>
          </p:cNvSpPr>
          <p:nvPr/>
        </p:nvSpPr>
        <p:spPr>
          <a:xfrm>
            <a:off x="8953500" y="6521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>
                <a:solidFill>
                  <a:prstClr val="white">
                    <a:lumMod val="50000"/>
                  </a:prstClr>
                </a:solidFill>
                <a:latin typeface="Arial"/>
              </a:rPr>
              <a:pPr/>
              <a:t>3</a:t>
            </a:fld>
            <a:endParaRPr lang="zh-CN" altLang="en-US">
              <a:solidFill>
                <a:prstClr val="white">
                  <a:lumMod val="50000"/>
                </a:prstClr>
              </a:solidFill>
              <a:latin typeface="Arial"/>
            </a:endParaRPr>
          </a:p>
        </p:txBody>
      </p:sp>
      <p:sp>
        <p:nvSpPr>
          <p:cNvPr id="47" name="iş1îḓè">
            <a:extLst>
              <a:ext uri="{FF2B5EF4-FFF2-40B4-BE49-F238E27FC236}">
                <a16:creationId xmlns:a16="http://schemas.microsoft.com/office/drawing/2014/main" id="{F6860FD2-CB6E-45A1-B639-EE58DBA6303B}"/>
              </a:ext>
            </a:extLst>
          </p:cNvPr>
          <p:cNvSpPr txBox="1"/>
          <p:nvPr/>
        </p:nvSpPr>
        <p:spPr bwMode="auto">
          <a:xfrm>
            <a:off x="6450159" y="3491485"/>
            <a:ext cx="2007132" cy="35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b="1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在此输入标题</a:t>
            </a:r>
            <a:endParaRPr lang="en-US" altLang="zh-CN" sz="1600" b="1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CC5D16-625E-A248-12BD-6E6A5828C5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282" y="0"/>
            <a:ext cx="8365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8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C5846-F841-5227-6256-61D1BD0E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56A8B10-3FC2-9BA2-36E4-49A37BB1752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EE5D3D-0890-B7F4-413B-52497B1C2FD7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DC6F32-6E64-D25A-11C3-CD91C6948045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研究现状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8EF5409-E33D-05DC-96B4-95D596E1625C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1687446-9F2C-E489-CA39-BF15134160D0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4096C1FD-D890-325C-1BC5-879D40E41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1FA1B2FD-8BEF-37BA-7992-8187BFE1B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2204152-FF2F-B4AB-1AA0-A838D9FDD024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C262C8BE-BEF9-0899-A63B-F35596F480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38210853-BA0E-2EC5-CAE5-8F282E1BDC3E}"/>
              </a:ext>
            </a:extLst>
          </p:cNvPr>
          <p:cNvSpPr txBox="1">
            <a:spLocks/>
          </p:cNvSpPr>
          <p:nvPr/>
        </p:nvSpPr>
        <p:spPr>
          <a:xfrm>
            <a:off x="8953500" y="6521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>
                <a:solidFill>
                  <a:prstClr val="white">
                    <a:lumMod val="50000"/>
                  </a:prstClr>
                </a:solidFill>
                <a:latin typeface="Arial"/>
              </a:rPr>
              <a:pPr/>
              <a:t>4</a:t>
            </a:fld>
            <a:endParaRPr lang="zh-CN" altLang="en-US">
              <a:solidFill>
                <a:prstClr val="white">
                  <a:lumMod val="50000"/>
                </a:prstClr>
              </a:solidFill>
              <a:latin typeface="Arial"/>
            </a:endParaRPr>
          </a:p>
        </p:txBody>
      </p:sp>
      <p:sp>
        <p:nvSpPr>
          <p:cNvPr id="47" name="iş1îḓè">
            <a:extLst>
              <a:ext uri="{FF2B5EF4-FFF2-40B4-BE49-F238E27FC236}">
                <a16:creationId xmlns:a16="http://schemas.microsoft.com/office/drawing/2014/main" id="{EBEE8B0D-FEEE-EFD9-F7B4-934EC1E94564}"/>
              </a:ext>
            </a:extLst>
          </p:cNvPr>
          <p:cNvSpPr txBox="1"/>
          <p:nvPr/>
        </p:nvSpPr>
        <p:spPr bwMode="auto">
          <a:xfrm>
            <a:off x="6450159" y="3491485"/>
            <a:ext cx="2007132" cy="35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b="1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在此输入标题</a:t>
            </a:r>
            <a:endParaRPr lang="en-US" altLang="zh-CN" sz="1600" b="1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1D2AEF-C865-1C47-53A1-120923250D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3BB8943-4EDD-EA9F-C396-BBB387C998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412" y="40944"/>
            <a:ext cx="3978322" cy="397832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F2F558A-5D36-DBD8-76C5-B98643C772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367" y="3703092"/>
            <a:ext cx="3113964" cy="311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4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27D8-3186-7E2B-9912-0D9965B77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FB4C7D1-7713-60AD-9A2F-CD665A35ACA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444125-8D31-068F-B153-4397356E006C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F5F1C1-EF74-7AAF-3803-AA74CBD3DE0C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研究现状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689FB15-3293-F68C-039B-B5FF5242645E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207D6AA-0224-C158-8055-98C3DC6E5ECD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F7AECABF-EA0B-1F62-7EDF-F9035654E2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CFF18227-E352-D9D8-8F91-14849128F0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35BBFC5-B523-BDDB-A4AD-3AD7ABB01855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3A1CD9BE-8300-7B05-90E6-BBFF7BC0C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C801B0D7-ED84-C66E-572F-74FCA4344651}"/>
              </a:ext>
            </a:extLst>
          </p:cNvPr>
          <p:cNvSpPr txBox="1">
            <a:spLocks/>
          </p:cNvSpPr>
          <p:nvPr/>
        </p:nvSpPr>
        <p:spPr>
          <a:xfrm>
            <a:off x="8953500" y="6521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>
                <a:solidFill>
                  <a:prstClr val="white">
                    <a:lumMod val="50000"/>
                  </a:prstClr>
                </a:solidFill>
                <a:latin typeface="Arial"/>
              </a:rPr>
              <a:pPr/>
              <a:t>5</a:t>
            </a:fld>
            <a:endParaRPr lang="zh-CN" altLang="en-US">
              <a:solidFill>
                <a:prstClr val="white">
                  <a:lumMod val="50000"/>
                </a:prstClr>
              </a:solidFill>
              <a:latin typeface="Arial"/>
            </a:endParaRPr>
          </a:p>
        </p:txBody>
      </p:sp>
      <p:sp>
        <p:nvSpPr>
          <p:cNvPr id="47" name="iş1îḓè">
            <a:extLst>
              <a:ext uri="{FF2B5EF4-FFF2-40B4-BE49-F238E27FC236}">
                <a16:creationId xmlns:a16="http://schemas.microsoft.com/office/drawing/2014/main" id="{7F768279-094C-A1F4-5163-F204124BCFC0}"/>
              </a:ext>
            </a:extLst>
          </p:cNvPr>
          <p:cNvSpPr txBox="1"/>
          <p:nvPr/>
        </p:nvSpPr>
        <p:spPr bwMode="auto">
          <a:xfrm>
            <a:off x="6450159" y="3491485"/>
            <a:ext cx="2007132" cy="35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b="1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在此输入标题</a:t>
            </a:r>
            <a:endParaRPr lang="en-US" altLang="zh-CN" sz="1600" b="1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3BC0CCA-4D71-C11D-00AB-252020AA82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36EFD1-080D-96C5-96AF-7B8019339C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" y="930395"/>
            <a:ext cx="5327203" cy="532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4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59BA-BD9B-6153-71D8-E06994CD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E9F26FE-6C74-D66C-C3E5-DEFE93F70050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D50E3F-3879-9DD3-EC89-ACB5DFF18B5D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45B881-D7DD-3B3B-C8C6-42E3EA00E6F8}"/>
              </a:ext>
            </a:extLst>
          </p:cNvPr>
          <p:cNvSpPr txBox="1"/>
          <p:nvPr/>
        </p:nvSpPr>
        <p:spPr>
          <a:xfrm>
            <a:off x="1388075" y="212563"/>
            <a:ext cx="363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项目计划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163BC22-12DA-A8FF-7431-1FE04BE9B302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5308C9-7FF3-FEFF-E130-F509343B2999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8A886638-2B5D-9773-061C-B8E8B6258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C59F2B78-21FE-B868-0852-CBFF5039DB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E17D1EF-9AC1-4C44-8377-86342974E386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FFA8CC7C-737A-C84C-029F-086F223A1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294755D-A5A5-8A12-AFBB-7D87958AA0B9}"/>
              </a:ext>
            </a:extLst>
          </p:cNvPr>
          <p:cNvSpPr txBox="1"/>
          <p:nvPr/>
        </p:nvSpPr>
        <p:spPr>
          <a:xfrm>
            <a:off x="13785941" y="6372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EE7232A6-0056-9B20-CC1C-F32B5C3B3261}"/>
              </a:ext>
            </a:extLst>
          </p:cNvPr>
          <p:cNvGrpSpPr>
            <a:grpSpLocks/>
          </p:cNvGrpSpPr>
          <p:nvPr/>
        </p:nvGrpSpPr>
        <p:grpSpPr bwMode="auto">
          <a:xfrm>
            <a:off x="713650" y="2382854"/>
            <a:ext cx="2287879" cy="2076840"/>
            <a:chOff x="0" y="0"/>
            <a:chExt cx="2726" cy="2770"/>
          </a:xfrm>
        </p:grpSpPr>
        <p:sp>
          <p:nvSpPr>
            <p:cNvPr id="26" name="Rectangle 11">
              <a:extLst>
                <a:ext uri="{FF2B5EF4-FFF2-40B4-BE49-F238E27FC236}">
                  <a16:creationId xmlns:a16="http://schemas.microsoft.com/office/drawing/2014/main" id="{F319C176-F797-E195-7434-730AB3203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440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T+1</a:t>
              </a:r>
              <a:r>
                <a:rPr lang="zh-CN" altLang="en-US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月</a:t>
              </a:r>
            </a:p>
          </p:txBody>
        </p:sp>
        <p:sp>
          <p:nvSpPr>
            <p:cNvPr id="27" name="Rectangle 12">
              <a:extLst>
                <a:ext uri="{FF2B5EF4-FFF2-40B4-BE49-F238E27FC236}">
                  <a16:creationId xmlns:a16="http://schemas.microsoft.com/office/drawing/2014/main" id="{029D0C67-0C84-82AF-A6E7-154B633C7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15"/>
              <a:ext cx="2726" cy="2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完成数据集清洗和数据预处理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完成评测脚本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实现基础模型，包括：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CNN + FPN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、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CLIP </a:t>
              </a:r>
              <a:r>
                <a:rPr lang="en-US" altLang="zh-CN" sz="1600" dirty="0" err="1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ViT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-L/14 +MLP</a:t>
              </a: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尝试前面提到的一些论文提出的模型，例如：</a:t>
              </a:r>
              <a:r>
                <a:rPr lang="en-US" altLang="zh-CN" sz="1600" dirty="0" err="1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AIGCBench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、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VBench2.0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、</a:t>
              </a:r>
              <a:r>
                <a:rPr lang="en-US" altLang="zh-CN" sz="1600" dirty="0" err="1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VMBench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28" name="Oval 14">
            <a:extLst>
              <a:ext uri="{FF2B5EF4-FFF2-40B4-BE49-F238E27FC236}">
                <a16:creationId xmlns:a16="http://schemas.microsoft.com/office/drawing/2014/main" id="{04ACD76D-803D-2147-D0B5-FFD92C97B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66979"/>
            <a:ext cx="444500" cy="438150"/>
          </a:xfrm>
          <a:prstGeom prst="ellipse">
            <a:avLst/>
          </a:prstGeom>
          <a:solidFill>
            <a:srgbClr val="104BA4"/>
          </a:solidFill>
          <a:ln>
            <a:noFill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zh-CN" sz="2800">
              <a:solidFill>
                <a:srgbClr val="000000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FB238DE-CD59-E9E6-0045-87C53A90E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73329"/>
            <a:ext cx="4445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1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grpSp>
        <p:nvGrpSpPr>
          <p:cNvPr id="30" name="Group 4">
            <a:extLst>
              <a:ext uri="{FF2B5EF4-FFF2-40B4-BE49-F238E27FC236}">
                <a16:creationId xmlns:a16="http://schemas.microsoft.com/office/drawing/2014/main" id="{23AFB38F-95A8-ACF6-2A3E-6A15F94D7CD8}"/>
              </a:ext>
            </a:extLst>
          </p:cNvPr>
          <p:cNvGrpSpPr>
            <a:grpSpLocks/>
          </p:cNvGrpSpPr>
          <p:nvPr/>
        </p:nvGrpSpPr>
        <p:grpSpPr bwMode="auto">
          <a:xfrm>
            <a:off x="10829" y="1948486"/>
            <a:ext cx="9369425" cy="268288"/>
            <a:chOff x="0" y="0"/>
            <a:chExt cx="7344815" cy="213386"/>
          </a:xfrm>
          <a:solidFill>
            <a:srgbClr val="009644"/>
          </a:solidFill>
        </p:grpSpPr>
        <p:sp>
          <p:nvSpPr>
            <p:cNvPr id="31" name="Rectangle 61">
              <a:extLst>
                <a:ext uri="{FF2B5EF4-FFF2-40B4-BE49-F238E27FC236}">
                  <a16:creationId xmlns:a16="http://schemas.microsoft.com/office/drawing/2014/main" id="{8CFC0B4E-0959-48A4-049D-67D8167C5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344815" cy="32031"/>
            </a:xfrm>
            <a:prstGeom prst="rect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32" name="Flowchart: Merge 3">
              <a:extLst>
                <a:ext uri="{FF2B5EF4-FFF2-40B4-BE49-F238E27FC236}">
                  <a16:creationId xmlns:a16="http://schemas.microsoft.com/office/drawing/2014/main" id="{64BEA78A-0D53-73E9-95E1-25DAB2CA2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35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33" name="Flowchart: Merge 64">
              <a:extLst>
                <a:ext uri="{FF2B5EF4-FFF2-40B4-BE49-F238E27FC236}">
                  <a16:creationId xmlns:a16="http://schemas.microsoft.com/office/drawing/2014/main" id="{7DEFF950-DA8C-C4A2-41FF-1A377C4E0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071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34" name="Flowchart: Merge 65">
              <a:extLst>
                <a:ext uri="{FF2B5EF4-FFF2-40B4-BE49-F238E27FC236}">
                  <a16:creationId xmlns:a16="http://schemas.microsoft.com/office/drawing/2014/main" id="{26982E0C-D6B3-FFC0-4102-E7F7CA898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4869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DECB2966-9278-383E-C219-8B92DB1C6113}"/>
              </a:ext>
            </a:extLst>
          </p:cNvPr>
          <p:cNvGrpSpPr>
            <a:grpSpLocks/>
          </p:cNvGrpSpPr>
          <p:nvPr/>
        </p:nvGrpSpPr>
        <p:grpSpPr bwMode="auto">
          <a:xfrm>
            <a:off x="4061704" y="2437981"/>
            <a:ext cx="2239444" cy="1308334"/>
            <a:chOff x="0" y="-121"/>
            <a:chExt cx="2949" cy="1745"/>
          </a:xfrm>
        </p:grpSpPr>
        <p:sp>
          <p:nvSpPr>
            <p:cNvPr id="36" name="Rectangle 11">
              <a:extLst>
                <a:ext uri="{FF2B5EF4-FFF2-40B4-BE49-F238E27FC236}">
                  <a16:creationId xmlns:a16="http://schemas.microsoft.com/office/drawing/2014/main" id="{8AA11673-BB26-B402-E26F-95606D45F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21"/>
              <a:ext cx="2440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T+2</a:t>
              </a:r>
              <a:r>
                <a:rPr lang="zh-CN" altLang="en-US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月</a:t>
              </a:r>
            </a:p>
          </p:txBody>
        </p:sp>
        <p:sp>
          <p:nvSpPr>
            <p:cNvPr id="37" name="Rectangle 12">
              <a:extLst>
                <a:ext uri="{FF2B5EF4-FFF2-40B4-BE49-F238E27FC236}">
                  <a16:creationId xmlns:a16="http://schemas.microsoft.com/office/drawing/2014/main" id="{3338BF4E-F46B-2E15-EEDE-37278BB49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15"/>
              <a:ext cx="2949" cy="1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算法分析与调优，达到基础指标要求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38" name="Group 13">
            <a:extLst>
              <a:ext uri="{FF2B5EF4-FFF2-40B4-BE49-F238E27FC236}">
                <a16:creationId xmlns:a16="http://schemas.microsoft.com/office/drawing/2014/main" id="{CF807257-927A-C66B-006E-A93CCAB62AA9}"/>
              </a:ext>
            </a:extLst>
          </p:cNvPr>
          <p:cNvGrpSpPr>
            <a:grpSpLocks/>
          </p:cNvGrpSpPr>
          <p:nvPr/>
        </p:nvGrpSpPr>
        <p:grpSpPr bwMode="auto">
          <a:xfrm>
            <a:off x="3447316" y="2358248"/>
            <a:ext cx="453736" cy="438150"/>
            <a:chOff x="40" y="0"/>
            <a:chExt cx="596" cy="584"/>
          </a:xfrm>
        </p:grpSpPr>
        <p:sp>
          <p:nvSpPr>
            <p:cNvPr id="39" name="Oval 14">
              <a:extLst>
                <a:ext uri="{FF2B5EF4-FFF2-40B4-BE49-F238E27FC236}">
                  <a16:creationId xmlns:a16="http://schemas.microsoft.com/office/drawing/2014/main" id="{7BBEC7AA-7A28-44AB-BEA1-F3F834650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0"/>
              <a:ext cx="584" cy="584"/>
            </a:xfrm>
            <a:prstGeom prst="ellips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zh-CN" sz="2800" dirty="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DDDFFB21-670E-0AAF-40DF-E127FC3C3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" y="8"/>
              <a:ext cx="58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200" dirty="0">
                  <a:solidFill>
                    <a:srgbClr val="FFFFFF"/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2</a:t>
              </a:r>
              <a:endParaRPr lang="zh-CN" altLang="en-US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46" name="Rectangle 15">
            <a:extLst>
              <a:ext uri="{FF2B5EF4-FFF2-40B4-BE49-F238E27FC236}">
                <a16:creationId xmlns:a16="http://schemas.microsoft.com/office/drawing/2014/main" id="{4A451E2B-82D8-DF09-574D-3DBDC2C68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746" y="2584857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0CFD8EA-D8F3-B77F-6065-484FAE4C14AE}"/>
              </a:ext>
            </a:extLst>
          </p:cNvPr>
          <p:cNvGrpSpPr>
            <a:grpSpLocks/>
          </p:cNvGrpSpPr>
          <p:nvPr/>
        </p:nvGrpSpPr>
        <p:grpSpPr bwMode="auto">
          <a:xfrm>
            <a:off x="3366655" y="1947190"/>
            <a:ext cx="8825345" cy="269584"/>
            <a:chOff x="0" y="0"/>
            <a:chExt cx="7344815" cy="213386"/>
          </a:xfrm>
          <a:solidFill>
            <a:srgbClr val="009644"/>
          </a:solidFill>
        </p:grpSpPr>
        <p:sp>
          <p:nvSpPr>
            <p:cNvPr id="3" name="Rectangle 61">
              <a:extLst>
                <a:ext uri="{FF2B5EF4-FFF2-40B4-BE49-F238E27FC236}">
                  <a16:creationId xmlns:a16="http://schemas.microsoft.com/office/drawing/2014/main" id="{B4202C38-C889-BF2D-670E-3B779D614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344815" cy="32031"/>
            </a:xfrm>
            <a:prstGeom prst="rect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4" name="Flowchart: Merge 3">
              <a:extLst>
                <a:ext uri="{FF2B5EF4-FFF2-40B4-BE49-F238E27FC236}">
                  <a16:creationId xmlns:a16="http://schemas.microsoft.com/office/drawing/2014/main" id="{1EB96345-A471-0C8F-90BB-13D4A8951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35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5" name="Flowchart: Merge 64">
              <a:extLst>
                <a:ext uri="{FF2B5EF4-FFF2-40B4-BE49-F238E27FC236}">
                  <a16:creationId xmlns:a16="http://schemas.microsoft.com/office/drawing/2014/main" id="{1501D06A-720D-11A9-0233-9F8736DF7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071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6" name="Flowchart: Merge 65">
              <a:extLst>
                <a:ext uri="{FF2B5EF4-FFF2-40B4-BE49-F238E27FC236}">
                  <a16:creationId xmlns:a16="http://schemas.microsoft.com/office/drawing/2014/main" id="{A04A9706-1D66-3701-ABB3-083028E72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4869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18E4C853-23E0-BA8A-8B22-8ED749B7CAB1}"/>
              </a:ext>
            </a:extLst>
          </p:cNvPr>
          <p:cNvGrpSpPr>
            <a:grpSpLocks/>
          </p:cNvGrpSpPr>
          <p:nvPr/>
        </p:nvGrpSpPr>
        <p:grpSpPr bwMode="auto">
          <a:xfrm>
            <a:off x="7192571" y="2483342"/>
            <a:ext cx="2239444" cy="1308334"/>
            <a:chOff x="0" y="-121"/>
            <a:chExt cx="2949" cy="1745"/>
          </a:xfrm>
        </p:grpSpPr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6BABA4A4-8BB1-E2C9-8D8D-8DFC0E6C1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21"/>
              <a:ext cx="2440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T+3</a:t>
              </a:r>
              <a:r>
                <a:rPr lang="zh-CN" altLang="en-US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月</a:t>
              </a:r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84738E77-FE7B-36BC-A5BD-DF9A35A8D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15"/>
              <a:ext cx="2949" cy="1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算法调优，尝试达到进阶指标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并实现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YOLO/RT-DETR 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模型，在其基础上对异常位置进行检测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10" name="Group 13">
            <a:extLst>
              <a:ext uri="{FF2B5EF4-FFF2-40B4-BE49-F238E27FC236}">
                <a16:creationId xmlns:a16="http://schemas.microsoft.com/office/drawing/2014/main" id="{6D77B446-2F24-7067-9196-D8A6C047CD45}"/>
              </a:ext>
            </a:extLst>
          </p:cNvPr>
          <p:cNvGrpSpPr>
            <a:grpSpLocks/>
          </p:cNvGrpSpPr>
          <p:nvPr/>
        </p:nvGrpSpPr>
        <p:grpSpPr bwMode="auto">
          <a:xfrm>
            <a:off x="6578183" y="2403609"/>
            <a:ext cx="453736" cy="438150"/>
            <a:chOff x="40" y="0"/>
            <a:chExt cx="596" cy="584"/>
          </a:xfrm>
        </p:grpSpPr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EB917D47-005D-4902-3E99-52A92C509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0"/>
              <a:ext cx="584" cy="584"/>
            </a:xfrm>
            <a:prstGeom prst="ellips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zh-CN" sz="2800" dirty="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FE4C2238-88D1-EE6C-7300-FFDBA122D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" y="8"/>
              <a:ext cx="58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200" dirty="0">
                  <a:solidFill>
                    <a:srgbClr val="FFFFFF"/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3</a:t>
              </a:r>
              <a:endParaRPr lang="zh-CN" altLang="en-US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DA2509F-9C87-2ED7-D9D3-1EF3FE6C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613" y="263021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grpSp>
        <p:nvGrpSpPr>
          <p:cNvPr id="48" name="Group 10">
            <a:extLst>
              <a:ext uri="{FF2B5EF4-FFF2-40B4-BE49-F238E27FC236}">
                <a16:creationId xmlns:a16="http://schemas.microsoft.com/office/drawing/2014/main" id="{0BDE30C5-C235-65B3-2AE0-E8113BFD22F4}"/>
              </a:ext>
            </a:extLst>
          </p:cNvPr>
          <p:cNvGrpSpPr>
            <a:grpSpLocks/>
          </p:cNvGrpSpPr>
          <p:nvPr/>
        </p:nvGrpSpPr>
        <p:grpSpPr bwMode="auto">
          <a:xfrm>
            <a:off x="10121900" y="2529782"/>
            <a:ext cx="2070100" cy="1308334"/>
            <a:chOff x="0" y="-121"/>
            <a:chExt cx="2726" cy="1745"/>
          </a:xfrm>
        </p:grpSpPr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911281BC-3FB3-8DB4-9EEB-FCEF405D6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21"/>
              <a:ext cx="2440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T+4</a:t>
              </a:r>
              <a:r>
                <a:rPr lang="zh-CN" altLang="en-US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月</a:t>
              </a:r>
            </a:p>
          </p:txBody>
        </p:sp>
        <p:sp>
          <p:nvSpPr>
            <p:cNvPr id="50" name="Rectangle 12">
              <a:extLst>
                <a:ext uri="{FF2B5EF4-FFF2-40B4-BE49-F238E27FC236}">
                  <a16:creationId xmlns:a16="http://schemas.microsoft.com/office/drawing/2014/main" id="{D053BF79-1B42-C9B5-9715-938A93569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15"/>
              <a:ext cx="2726" cy="1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编写开发文档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输出异常的具体类型和位置（</a:t>
              </a:r>
              <a:r>
                <a:rPr lang="en-US" altLang="zh-CN" sz="1600" dirty="0" err="1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Bbox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）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51" name="Group 13">
            <a:extLst>
              <a:ext uri="{FF2B5EF4-FFF2-40B4-BE49-F238E27FC236}">
                <a16:creationId xmlns:a16="http://schemas.microsoft.com/office/drawing/2014/main" id="{D64EC8C5-964B-0DAF-4F9D-6AD2C9E7B17C}"/>
              </a:ext>
            </a:extLst>
          </p:cNvPr>
          <p:cNvGrpSpPr>
            <a:grpSpLocks/>
          </p:cNvGrpSpPr>
          <p:nvPr/>
        </p:nvGrpSpPr>
        <p:grpSpPr bwMode="auto">
          <a:xfrm>
            <a:off x="9507512" y="2450049"/>
            <a:ext cx="453736" cy="438150"/>
            <a:chOff x="40" y="0"/>
            <a:chExt cx="596" cy="584"/>
          </a:xfrm>
        </p:grpSpPr>
        <p:sp>
          <p:nvSpPr>
            <p:cNvPr id="52" name="Oval 14">
              <a:extLst>
                <a:ext uri="{FF2B5EF4-FFF2-40B4-BE49-F238E27FC236}">
                  <a16:creationId xmlns:a16="http://schemas.microsoft.com/office/drawing/2014/main" id="{31DAC52D-C4A4-D7A3-5543-E666FAFC5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0"/>
              <a:ext cx="584" cy="584"/>
            </a:xfrm>
            <a:prstGeom prst="ellips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zh-CN" sz="2800" dirty="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0C08CE2A-4D79-0B20-4055-A58CEF563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" y="8"/>
              <a:ext cx="58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200" dirty="0">
                  <a:solidFill>
                    <a:srgbClr val="FFFFFF"/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4</a:t>
              </a:r>
              <a:endParaRPr lang="zh-CN" altLang="en-US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54" name="Rectangle 15">
            <a:extLst>
              <a:ext uri="{FF2B5EF4-FFF2-40B4-BE49-F238E27FC236}">
                <a16:creationId xmlns:a16="http://schemas.microsoft.com/office/drawing/2014/main" id="{DFB01381-32D8-3D61-7D56-31433B144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9942" y="267665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920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F552-3786-7D9C-90D5-29455806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7E19F4E-F2F2-A952-DB33-91F7BDF8B9ED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23754E-B3E6-B7D7-1C3D-EF7EC08C6B48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6B24A8-C4F0-DE9C-9139-CA44F83865DF}"/>
              </a:ext>
            </a:extLst>
          </p:cNvPr>
          <p:cNvSpPr txBox="1"/>
          <p:nvPr/>
        </p:nvSpPr>
        <p:spPr>
          <a:xfrm>
            <a:off x="1388075" y="212563"/>
            <a:ext cx="363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项目计划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3FAA451-679C-1F12-CE66-F922F3ED53B7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C94D82B-114C-CEA8-012F-394189BEFEBE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EF751FF1-9051-3E7E-C96E-6FD576227B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007A904F-A343-2932-AC2B-72BA10AEFB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1AB8307-F530-FF76-8E2D-2423FD928728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F7155204-A0A2-C3CE-25BC-5F3CCAFE9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55CC4C4-2E65-5AF1-A681-D6BAFCE1A67F}"/>
              </a:ext>
            </a:extLst>
          </p:cNvPr>
          <p:cNvSpPr txBox="1"/>
          <p:nvPr/>
        </p:nvSpPr>
        <p:spPr>
          <a:xfrm>
            <a:off x="13785941" y="6372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5D67E0C0-E3F4-E07B-63B8-1DF1AB664956}"/>
              </a:ext>
            </a:extLst>
          </p:cNvPr>
          <p:cNvGrpSpPr>
            <a:grpSpLocks/>
          </p:cNvGrpSpPr>
          <p:nvPr/>
        </p:nvGrpSpPr>
        <p:grpSpPr bwMode="auto">
          <a:xfrm>
            <a:off x="713650" y="2382854"/>
            <a:ext cx="2287879" cy="2076840"/>
            <a:chOff x="0" y="0"/>
            <a:chExt cx="2726" cy="2770"/>
          </a:xfrm>
        </p:grpSpPr>
        <p:sp>
          <p:nvSpPr>
            <p:cNvPr id="26" name="Rectangle 11">
              <a:extLst>
                <a:ext uri="{FF2B5EF4-FFF2-40B4-BE49-F238E27FC236}">
                  <a16:creationId xmlns:a16="http://schemas.microsoft.com/office/drawing/2014/main" id="{96DAEB21-BD37-6DE9-FD81-04C72BD63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440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T+1</a:t>
              </a:r>
              <a:r>
                <a:rPr lang="zh-CN" altLang="en-US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月</a:t>
              </a:r>
            </a:p>
          </p:txBody>
        </p:sp>
        <p:sp>
          <p:nvSpPr>
            <p:cNvPr id="27" name="Rectangle 12">
              <a:extLst>
                <a:ext uri="{FF2B5EF4-FFF2-40B4-BE49-F238E27FC236}">
                  <a16:creationId xmlns:a16="http://schemas.microsoft.com/office/drawing/2014/main" id="{3C86725E-4EB0-1CF7-4744-523B375F0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15"/>
              <a:ext cx="2726" cy="2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完成数据集清洗和数据预处理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完成评测脚本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实现基础模型，包括：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CNN + FPN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、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CLIP </a:t>
              </a:r>
              <a:r>
                <a:rPr lang="en-US" altLang="zh-CN" sz="1600" dirty="0" err="1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ViT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-L/14 +MLP</a:t>
              </a: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尝试前面提到的一些论文提出的模型，例如：</a:t>
              </a:r>
              <a:r>
                <a:rPr lang="en-US" altLang="zh-CN" sz="1600" dirty="0" err="1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AIGCBench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、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VBench2.0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、</a:t>
              </a:r>
              <a:r>
                <a:rPr lang="en-US" altLang="zh-CN" sz="1600" dirty="0" err="1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VMBench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28" name="Oval 14">
            <a:extLst>
              <a:ext uri="{FF2B5EF4-FFF2-40B4-BE49-F238E27FC236}">
                <a16:creationId xmlns:a16="http://schemas.microsoft.com/office/drawing/2014/main" id="{5BB24628-7C54-87AB-D4ED-1199A9F24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66979"/>
            <a:ext cx="444500" cy="438150"/>
          </a:xfrm>
          <a:prstGeom prst="ellipse">
            <a:avLst/>
          </a:prstGeom>
          <a:solidFill>
            <a:srgbClr val="104BA4"/>
          </a:solidFill>
          <a:ln>
            <a:noFill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zh-CN" sz="2800">
              <a:solidFill>
                <a:srgbClr val="000000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59448363-CF7E-43FE-1F45-98C1F5CC7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73329"/>
            <a:ext cx="4445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1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grpSp>
        <p:nvGrpSpPr>
          <p:cNvPr id="30" name="Group 4">
            <a:extLst>
              <a:ext uri="{FF2B5EF4-FFF2-40B4-BE49-F238E27FC236}">
                <a16:creationId xmlns:a16="http://schemas.microsoft.com/office/drawing/2014/main" id="{3108F585-C579-49B1-305C-36700120B6F5}"/>
              </a:ext>
            </a:extLst>
          </p:cNvPr>
          <p:cNvGrpSpPr>
            <a:grpSpLocks/>
          </p:cNvGrpSpPr>
          <p:nvPr/>
        </p:nvGrpSpPr>
        <p:grpSpPr bwMode="auto">
          <a:xfrm>
            <a:off x="10829" y="1948486"/>
            <a:ext cx="9369425" cy="268288"/>
            <a:chOff x="0" y="0"/>
            <a:chExt cx="7344815" cy="213386"/>
          </a:xfrm>
          <a:solidFill>
            <a:srgbClr val="009644"/>
          </a:solidFill>
        </p:grpSpPr>
        <p:sp>
          <p:nvSpPr>
            <p:cNvPr id="31" name="Rectangle 61">
              <a:extLst>
                <a:ext uri="{FF2B5EF4-FFF2-40B4-BE49-F238E27FC236}">
                  <a16:creationId xmlns:a16="http://schemas.microsoft.com/office/drawing/2014/main" id="{3E0184D5-8252-4605-0AC5-D4CF1BDB4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344815" cy="32031"/>
            </a:xfrm>
            <a:prstGeom prst="rect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32" name="Flowchart: Merge 3">
              <a:extLst>
                <a:ext uri="{FF2B5EF4-FFF2-40B4-BE49-F238E27FC236}">
                  <a16:creationId xmlns:a16="http://schemas.microsoft.com/office/drawing/2014/main" id="{85F56175-52F0-CB61-A7D8-F006D1EC4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35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33" name="Flowchart: Merge 64">
              <a:extLst>
                <a:ext uri="{FF2B5EF4-FFF2-40B4-BE49-F238E27FC236}">
                  <a16:creationId xmlns:a16="http://schemas.microsoft.com/office/drawing/2014/main" id="{40FDF839-0EE2-E42E-8608-35BA4AAE2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071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34" name="Flowchart: Merge 65">
              <a:extLst>
                <a:ext uri="{FF2B5EF4-FFF2-40B4-BE49-F238E27FC236}">
                  <a16:creationId xmlns:a16="http://schemas.microsoft.com/office/drawing/2014/main" id="{0E04E8B9-6C5D-A3E1-DD2E-561E866F8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4869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8C551536-E1FE-BB6E-E8AC-DFB1AB413BDA}"/>
              </a:ext>
            </a:extLst>
          </p:cNvPr>
          <p:cNvGrpSpPr>
            <a:grpSpLocks/>
          </p:cNvGrpSpPr>
          <p:nvPr/>
        </p:nvGrpSpPr>
        <p:grpSpPr bwMode="auto">
          <a:xfrm>
            <a:off x="4061704" y="2437981"/>
            <a:ext cx="2239444" cy="1308334"/>
            <a:chOff x="0" y="-121"/>
            <a:chExt cx="2949" cy="1745"/>
          </a:xfrm>
        </p:grpSpPr>
        <p:sp>
          <p:nvSpPr>
            <p:cNvPr id="36" name="Rectangle 11">
              <a:extLst>
                <a:ext uri="{FF2B5EF4-FFF2-40B4-BE49-F238E27FC236}">
                  <a16:creationId xmlns:a16="http://schemas.microsoft.com/office/drawing/2014/main" id="{4AA34978-AC87-DE9B-A1A9-03779EC09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21"/>
              <a:ext cx="2440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T+2</a:t>
              </a:r>
              <a:r>
                <a:rPr lang="zh-CN" altLang="en-US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月</a:t>
              </a:r>
            </a:p>
          </p:txBody>
        </p:sp>
        <p:sp>
          <p:nvSpPr>
            <p:cNvPr id="37" name="Rectangle 12">
              <a:extLst>
                <a:ext uri="{FF2B5EF4-FFF2-40B4-BE49-F238E27FC236}">
                  <a16:creationId xmlns:a16="http://schemas.microsoft.com/office/drawing/2014/main" id="{E9A96334-9CB6-9BF4-58C3-CFD5450E8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15"/>
              <a:ext cx="2949" cy="1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算法分析与调优，达到基础指标要求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38" name="Group 13">
            <a:extLst>
              <a:ext uri="{FF2B5EF4-FFF2-40B4-BE49-F238E27FC236}">
                <a16:creationId xmlns:a16="http://schemas.microsoft.com/office/drawing/2014/main" id="{22AE60C4-5A8F-1C93-159C-D611F1BFD32F}"/>
              </a:ext>
            </a:extLst>
          </p:cNvPr>
          <p:cNvGrpSpPr>
            <a:grpSpLocks/>
          </p:cNvGrpSpPr>
          <p:nvPr/>
        </p:nvGrpSpPr>
        <p:grpSpPr bwMode="auto">
          <a:xfrm>
            <a:off x="3447316" y="2358248"/>
            <a:ext cx="453736" cy="438150"/>
            <a:chOff x="40" y="0"/>
            <a:chExt cx="596" cy="584"/>
          </a:xfrm>
        </p:grpSpPr>
        <p:sp>
          <p:nvSpPr>
            <p:cNvPr id="39" name="Oval 14">
              <a:extLst>
                <a:ext uri="{FF2B5EF4-FFF2-40B4-BE49-F238E27FC236}">
                  <a16:creationId xmlns:a16="http://schemas.microsoft.com/office/drawing/2014/main" id="{D60652D4-CA31-E329-4EFE-7211905A8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0"/>
              <a:ext cx="584" cy="584"/>
            </a:xfrm>
            <a:prstGeom prst="ellips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zh-CN" sz="2800" dirty="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2DA44467-F35F-D4F1-DB6D-084BEB58C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" y="8"/>
              <a:ext cx="58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200" dirty="0">
                  <a:solidFill>
                    <a:srgbClr val="FFFFFF"/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2</a:t>
              </a:r>
              <a:endParaRPr lang="zh-CN" altLang="en-US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46" name="Rectangle 15">
            <a:extLst>
              <a:ext uri="{FF2B5EF4-FFF2-40B4-BE49-F238E27FC236}">
                <a16:creationId xmlns:a16="http://schemas.microsoft.com/office/drawing/2014/main" id="{C54F2ABD-216C-8427-F094-5A46FBC6E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746" y="2584857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2F5EC4F-3D13-0F26-6D04-0F47EE7AC1F2}"/>
              </a:ext>
            </a:extLst>
          </p:cNvPr>
          <p:cNvGrpSpPr>
            <a:grpSpLocks/>
          </p:cNvGrpSpPr>
          <p:nvPr/>
        </p:nvGrpSpPr>
        <p:grpSpPr bwMode="auto">
          <a:xfrm>
            <a:off x="3366655" y="1947190"/>
            <a:ext cx="8825345" cy="269584"/>
            <a:chOff x="0" y="0"/>
            <a:chExt cx="7344815" cy="213386"/>
          </a:xfrm>
          <a:solidFill>
            <a:srgbClr val="009644"/>
          </a:solidFill>
        </p:grpSpPr>
        <p:sp>
          <p:nvSpPr>
            <p:cNvPr id="3" name="Rectangle 61">
              <a:extLst>
                <a:ext uri="{FF2B5EF4-FFF2-40B4-BE49-F238E27FC236}">
                  <a16:creationId xmlns:a16="http://schemas.microsoft.com/office/drawing/2014/main" id="{C8043BA7-ADA8-1B89-D6A7-933458CE3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344815" cy="32031"/>
            </a:xfrm>
            <a:prstGeom prst="rect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4" name="Flowchart: Merge 3">
              <a:extLst>
                <a:ext uri="{FF2B5EF4-FFF2-40B4-BE49-F238E27FC236}">
                  <a16:creationId xmlns:a16="http://schemas.microsoft.com/office/drawing/2014/main" id="{1923CF9F-3827-571D-DD45-5338061BB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35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5" name="Flowchart: Merge 64">
              <a:extLst>
                <a:ext uri="{FF2B5EF4-FFF2-40B4-BE49-F238E27FC236}">
                  <a16:creationId xmlns:a16="http://schemas.microsoft.com/office/drawing/2014/main" id="{2531F2D8-8FBC-8A5C-F008-2F50D453C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071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6" name="Flowchart: Merge 65">
              <a:extLst>
                <a:ext uri="{FF2B5EF4-FFF2-40B4-BE49-F238E27FC236}">
                  <a16:creationId xmlns:a16="http://schemas.microsoft.com/office/drawing/2014/main" id="{8F70B0AB-B082-2767-3118-10F4D7AAF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4869" y="21985"/>
              <a:ext cx="210541" cy="191401"/>
            </a:xfrm>
            <a:prstGeom prst="flowChartMerg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endParaRPr lang="zh-CN" altLang="zh-CN" sz="760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B8C02244-F523-9486-3044-441F9BDBE61C}"/>
              </a:ext>
            </a:extLst>
          </p:cNvPr>
          <p:cNvGrpSpPr>
            <a:grpSpLocks/>
          </p:cNvGrpSpPr>
          <p:nvPr/>
        </p:nvGrpSpPr>
        <p:grpSpPr bwMode="auto">
          <a:xfrm>
            <a:off x="7192571" y="2483342"/>
            <a:ext cx="2239444" cy="1308334"/>
            <a:chOff x="0" y="-121"/>
            <a:chExt cx="2949" cy="1745"/>
          </a:xfrm>
        </p:grpSpPr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B631851C-2A34-F2F8-2463-6A22B9650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21"/>
              <a:ext cx="2440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T+3</a:t>
              </a:r>
              <a:r>
                <a:rPr lang="zh-CN" altLang="en-US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月</a:t>
              </a:r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12C70B9B-6AA5-E182-D082-1D1105438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15"/>
              <a:ext cx="2949" cy="1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算法调优，尝试达到进阶指标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并实现</a:t>
              </a:r>
              <a:r>
                <a:rPr lang="en-US" altLang="zh-CN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YOLO/RT-DETR 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模型，在其基础上对异常位置进行检测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10" name="Group 13">
            <a:extLst>
              <a:ext uri="{FF2B5EF4-FFF2-40B4-BE49-F238E27FC236}">
                <a16:creationId xmlns:a16="http://schemas.microsoft.com/office/drawing/2014/main" id="{5BA5FE04-EDB7-F198-F864-2BE88A9AAF87}"/>
              </a:ext>
            </a:extLst>
          </p:cNvPr>
          <p:cNvGrpSpPr>
            <a:grpSpLocks/>
          </p:cNvGrpSpPr>
          <p:nvPr/>
        </p:nvGrpSpPr>
        <p:grpSpPr bwMode="auto">
          <a:xfrm>
            <a:off x="6578183" y="2403609"/>
            <a:ext cx="453736" cy="438150"/>
            <a:chOff x="40" y="0"/>
            <a:chExt cx="596" cy="584"/>
          </a:xfrm>
        </p:grpSpPr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C14B8D4D-6BBA-0D68-061F-A553378F1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0"/>
              <a:ext cx="584" cy="584"/>
            </a:xfrm>
            <a:prstGeom prst="ellips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zh-CN" sz="2800" dirty="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D4DA7C97-3B76-D077-0BCF-9A4B50E8D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" y="8"/>
              <a:ext cx="58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200" dirty="0">
                  <a:solidFill>
                    <a:srgbClr val="FFFFFF"/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3</a:t>
              </a:r>
              <a:endParaRPr lang="zh-CN" altLang="en-US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93DF85E-889B-A019-0D51-0A479337B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613" y="263021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grpSp>
        <p:nvGrpSpPr>
          <p:cNvPr id="48" name="Group 10">
            <a:extLst>
              <a:ext uri="{FF2B5EF4-FFF2-40B4-BE49-F238E27FC236}">
                <a16:creationId xmlns:a16="http://schemas.microsoft.com/office/drawing/2014/main" id="{DB416D92-DAA9-EB35-665C-9908DAAC5A96}"/>
              </a:ext>
            </a:extLst>
          </p:cNvPr>
          <p:cNvGrpSpPr>
            <a:grpSpLocks/>
          </p:cNvGrpSpPr>
          <p:nvPr/>
        </p:nvGrpSpPr>
        <p:grpSpPr bwMode="auto">
          <a:xfrm>
            <a:off x="10121900" y="2529782"/>
            <a:ext cx="2070100" cy="1308334"/>
            <a:chOff x="0" y="-121"/>
            <a:chExt cx="2726" cy="1745"/>
          </a:xfrm>
        </p:grpSpPr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020EC8F1-9D27-9F95-BBA6-00CE96B6D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21"/>
              <a:ext cx="2440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T+4</a:t>
              </a:r>
              <a:r>
                <a:rPr lang="zh-CN" altLang="en-US" sz="2400" dirty="0">
                  <a:solidFill>
                    <a:srgbClr val="104BA4"/>
                  </a:solidFill>
                  <a:latin typeface="Microsoft JhengHei UI" panose="020B0604030504040204" pitchFamily="34" charset="-120"/>
                  <a:ea typeface="微软雅黑" panose="020B0503020204020204" pitchFamily="34" charset="-122"/>
                  <a:sym typeface="Microsoft JhengHei UI" panose="020B0604030504040204" pitchFamily="34" charset="-120"/>
                </a:rPr>
                <a:t>月</a:t>
              </a:r>
            </a:p>
          </p:txBody>
        </p:sp>
        <p:sp>
          <p:nvSpPr>
            <p:cNvPr id="50" name="Rectangle 12">
              <a:extLst>
                <a:ext uri="{FF2B5EF4-FFF2-40B4-BE49-F238E27FC236}">
                  <a16:creationId xmlns:a16="http://schemas.microsoft.com/office/drawing/2014/main" id="{093A8304-FAD8-0463-DCEC-537460783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15"/>
              <a:ext cx="2726" cy="1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编写开发文档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  <a:p>
              <a:pPr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输出异常的具体类型和位置（</a:t>
              </a:r>
              <a:r>
                <a:rPr lang="en-US" altLang="zh-CN" sz="1600" dirty="0" err="1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Bbox</a:t>
              </a:r>
              <a:r>
                <a:rPr lang="zh-CN" altLang="en-US" sz="1600" dirty="0">
                  <a:solidFill>
                    <a:srgbClr val="DADADA">
                      <a:lumMod val="50000"/>
                    </a:srgbClr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）</a:t>
              </a:r>
              <a:endParaRPr lang="en-US" altLang="zh-CN" sz="1600" dirty="0">
                <a:solidFill>
                  <a:srgbClr val="DADADA">
                    <a:lumMod val="50000"/>
                  </a:srgbClr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endParaRPr>
            </a:p>
          </p:txBody>
        </p:sp>
      </p:grpSp>
      <p:grpSp>
        <p:nvGrpSpPr>
          <p:cNvPr id="51" name="Group 13">
            <a:extLst>
              <a:ext uri="{FF2B5EF4-FFF2-40B4-BE49-F238E27FC236}">
                <a16:creationId xmlns:a16="http://schemas.microsoft.com/office/drawing/2014/main" id="{8A2948BF-9DC4-03BD-A049-6BFA5D943F42}"/>
              </a:ext>
            </a:extLst>
          </p:cNvPr>
          <p:cNvGrpSpPr>
            <a:grpSpLocks/>
          </p:cNvGrpSpPr>
          <p:nvPr/>
        </p:nvGrpSpPr>
        <p:grpSpPr bwMode="auto">
          <a:xfrm>
            <a:off x="9507512" y="2450049"/>
            <a:ext cx="453736" cy="438150"/>
            <a:chOff x="40" y="0"/>
            <a:chExt cx="596" cy="584"/>
          </a:xfrm>
        </p:grpSpPr>
        <p:sp>
          <p:nvSpPr>
            <p:cNvPr id="52" name="Oval 14">
              <a:extLst>
                <a:ext uri="{FF2B5EF4-FFF2-40B4-BE49-F238E27FC236}">
                  <a16:creationId xmlns:a16="http://schemas.microsoft.com/office/drawing/2014/main" id="{47B48094-AE18-F8B0-3C71-18C928BBE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0"/>
              <a:ext cx="584" cy="584"/>
            </a:xfrm>
            <a:prstGeom prst="ellipse">
              <a:avLst/>
            </a:prstGeom>
            <a:solidFill>
              <a:srgbClr val="104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zh-CN" sz="2800" dirty="0">
                <a:solidFill>
                  <a:srgbClr val="000000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1CA92C36-B302-3FEA-087B-B94558F67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" y="8"/>
              <a:ext cx="58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altLang="zh-CN" sz="2200" dirty="0">
                  <a:solidFill>
                    <a:srgbClr val="FFFFFF"/>
                  </a:solidFill>
                  <a:latin typeface="Microsoft JhengHei UI" panose="020B0604030504040204" pitchFamily="34" charset="-120"/>
                  <a:ea typeface="微软雅黑" pitchFamily="34" charset="-122"/>
                  <a:sym typeface="Microsoft JhengHei UI" panose="020B0604030504040204" pitchFamily="34" charset="-120"/>
                </a:rPr>
                <a:t>4</a:t>
              </a:r>
              <a:endParaRPr lang="zh-CN" altLang="en-US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anose="020B0503020204020204" pitchFamily="34" charset="-122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54" name="Rectangle 15">
            <a:extLst>
              <a:ext uri="{FF2B5EF4-FFF2-40B4-BE49-F238E27FC236}">
                <a16:creationId xmlns:a16="http://schemas.microsoft.com/office/drawing/2014/main" id="{62C8BC60-B413-C68A-78E5-32AE876DF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9942" y="267665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26311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4291;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E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3974</TotalTime>
  <Words>297</Words>
  <Application>Microsoft Office PowerPoint</Application>
  <PresentationFormat>宽屏</PresentationFormat>
  <Paragraphs>75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Microsoft JhengHei UI</vt:lpstr>
      <vt:lpstr>等线</vt:lpstr>
      <vt:lpstr>等线 Light</vt:lpstr>
      <vt:lpstr>思源黑体 CN Light</vt:lpstr>
      <vt:lpstr>微软雅黑</vt:lpstr>
      <vt:lpstr>Arial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Tarjan Liu</cp:lastModifiedBy>
  <cp:revision>272</cp:revision>
  <dcterms:created xsi:type="dcterms:W3CDTF">2020-11-21T03:02:13Z</dcterms:created>
  <dcterms:modified xsi:type="dcterms:W3CDTF">2025-12-23T02:05:34Z</dcterms:modified>
</cp:coreProperties>
</file>