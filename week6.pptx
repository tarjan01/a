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300" r:id="rId2"/>
    <p:sldId id="3107" r:id="rId3"/>
    <p:sldId id="3116" r:id="rId4"/>
    <p:sldId id="3114" r:id="rId5"/>
    <p:sldId id="3117" r:id="rId6"/>
    <p:sldId id="3115" r:id="rId7"/>
    <p:sldId id="3109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4BA4"/>
    <a:srgbClr val="AFABAB"/>
    <a:srgbClr val="0F3DC5"/>
    <a:srgbClr val="2BA9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29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292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7F8055-27CA-4C55-BC23-F9359CE32445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591625-B960-4FA4-9643-9A008D8F68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2517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74C1D0-060E-4FCC-91A6-7476A46993C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58986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040E4-2694-C5CB-99B2-01FB6DBD6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C3E2F94-6927-38F7-5FD3-9924CF3007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D19FEA5-611C-BBB7-1483-317502526F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8490C3-A572-12B7-8013-FBDD36B8C7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91625-B960-4FA4-9643-9A008D8F68F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63542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86DD4-5E73-CE78-977D-968ED3299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FB1E01B-652A-CAAB-F59B-7B7ECA175C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0957232-DC17-03C1-3A74-E3CF317586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B7D6DC-DFAE-EE2A-FC2B-78176C51A8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91625-B960-4FA4-9643-9A008D8F68F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2896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14DFE-26A5-4B5F-7E97-F22F50AFB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CD35A2F-9341-DBF8-A7B7-6DF53B03F6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B5A28B4-2E7F-9C04-8F27-63AF65762D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455D17-3A15-3A45-8AC4-505F350A16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91625-B960-4FA4-9643-9A008D8F68F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01558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FCE7B-DDA6-8841-A8DE-2829ADFA2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FD0B76B-19B4-8647-C4C2-501271677D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F9A8231-1C53-7AFC-C64A-EFC4C42823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B831A6-E82A-61A5-5893-662491312D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91625-B960-4FA4-9643-9A008D8F68F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72131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EE627-C33F-8FED-C5BC-7AD728C1B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5675B31-5A28-599A-F042-4784480C52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A1CD92C-7326-CF80-A549-0D6C22FC63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0F0A98-9E06-6707-8EA9-FBFE487AA5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91625-B960-4FA4-9643-9A008D8F68F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2584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307B7-87CB-73AD-ABD6-93A58D67E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6854AB6-0B24-44CE-63EE-A20DBCDA6B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81B9037-8B9B-9894-B7D1-9558E6A2BE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AADDCCE-67C7-B83D-966F-9D66D283DB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91625-B960-4FA4-9643-9A008D8F68F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064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E04E95-C28C-4865-8BFF-E15BC7F29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43BA2C4-6A62-465D-9859-A6EC58CCDE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A7E042-E9C0-47C6-8F72-5A6E31E12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A42068-7729-4131-9349-2C9AA98E4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408A23-9958-47FB-9DA6-A7D6A7EA8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2563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244F6A-BEA3-4829-BA87-1D170340A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23E72B-5CFE-4679-8D93-CB9179125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928390-902E-46D6-AAD1-5CAC6F4C3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889B6D-FF2D-4CF2-B3C7-D4A589C5B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9F298F-6A75-4555-8309-0DA771227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441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1129C4-4BC7-4D1C-923F-9496B94E1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8698E6-0411-4214-8D94-B0A1E13D82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841289-4692-437C-B93E-BEDAD521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46CAEC-6441-46A7-8BEC-EDD2814BA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2D5173-EC3B-4CA4-9E3D-84194D859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5986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2FCE84-631B-4382-B4C9-8A1C21E78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0D18C5-ABDC-4A53-81D5-A8D5D8895A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B3D59A7-28E3-435E-A74B-D01ACC655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8B7DBAE-24BD-44C9-AF96-BD2D6C571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615034-129A-49B6-86F3-AEAF5A467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E8710F-8D44-4ABA-8573-2452F1BCE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0951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10188A-D700-409D-BE1F-2F2B0D9B5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A7473A-D404-4C74-B566-6E38034FC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8743395-3FFA-4870-AC3C-44F08215F5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27D04B-C346-41D1-8FEC-A80AA34B6A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FC4B6FE-EDA7-40B1-8441-34577FC4D6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52B0929-77AA-49CB-AB9B-CEF9BA5D1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3192131-6D11-451C-A87D-BA5C5F388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93B0548-3F2D-4EB1-BE3D-B4889DC7C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6584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8F6A9F-3B52-4E20-ABF1-A02C896E2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7B5F133-9790-4C0C-BDE4-1AA814DD5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BE6C979-3EBC-4160-89D7-5AEFA5AFB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659250C-276B-4000-B679-F2821DECB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5733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EC519CF-2247-47FB-A4F0-5E137898D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739F0A5-6FFF-48A8-8511-7FE17C371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285EE3-245C-49B5-8F8C-E61B28322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0041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5FE5AB-235B-49F2-8C30-969875170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A31D7B-CBDB-4E74-8461-91339A36A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C3B9F42-3D3E-4977-9E31-C7E5A168CF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9BB7CFA-C294-46B1-9CCF-5684E60EA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5F3A9A8-FCD2-4C2E-91BC-DBCD14C20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26A166-5F0F-47E9-BFEF-35A170517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786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094A1B-284C-4868-B171-E77F60CDC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2D66C86-0CF8-4E32-A933-A5035CD4BA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9A85A24-38B6-4C17-8CE3-D42EA32DDF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65A0FC-ABA1-425E-9952-DA52635CE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D28AE56-F084-493B-AD86-53074AD52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ED1D20-B66A-408C-98AC-6CB497CF1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4903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9DD0E2-89AE-4F91-95C6-B328E86D7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05A87FD-6B6E-4100-99A0-5B9E53CB61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F9A51A-B308-4DE3-BCF1-FC48B88D3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9CF7F4-023D-4E0C-BBCC-409FD85EB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E7EE98-D94A-480D-AEF0-60916E0D0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9153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F6736A6-5D5C-46C2-BD7E-BED0C2D392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75939D8-8B3D-4C32-B97B-D5A4A549F2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5D972E-0DA1-486D-B54F-00A9E2870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7BDFB6-AE3A-4D21-8A49-2126353C3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292135-B275-4FAE-9A81-DB66A9757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480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391EB71-47C6-4326-A2C3-D98D6A215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F579BF-3838-432C-B48C-A982AACF8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5BF249-5457-4BEA-B28C-BDE19428D4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2EB2F5-E5B9-4F7B-93DF-EF86E88C72B4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719342-6EA6-4BFE-A3B1-9B26DAB6EE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757B64-A415-41D7-8C58-F2D64A53EF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3708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7188F525-2E6B-47CA-9C01-06E865ED87C3}"/>
              </a:ext>
            </a:extLst>
          </p:cNvPr>
          <p:cNvSpPr/>
          <p:nvPr/>
        </p:nvSpPr>
        <p:spPr>
          <a:xfrm>
            <a:off x="0" y="1"/>
            <a:ext cx="12192000" cy="6887980"/>
          </a:xfrm>
          <a:prstGeom prst="rect">
            <a:avLst/>
          </a:prstGeom>
          <a:solidFill>
            <a:srgbClr val="104BA4"/>
          </a:solidFill>
          <a:ln>
            <a:noFill/>
          </a:ln>
          <a:effectLst>
            <a:outerShdw blurRad="5080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6041F30F-EAFE-4510-9017-E617922BC134}"/>
              </a:ext>
            </a:extLst>
          </p:cNvPr>
          <p:cNvSpPr/>
          <p:nvPr/>
        </p:nvSpPr>
        <p:spPr>
          <a:xfrm>
            <a:off x="0" y="1409826"/>
            <a:ext cx="12192000" cy="449970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57200" sx="102000" sy="102000" algn="ctr" rotWithShape="0">
              <a:prstClr val="black">
                <a:alpha val="1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A7FFEEA-9F85-408F-A4B4-25BB52A56DD1}"/>
              </a:ext>
            </a:extLst>
          </p:cNvPr>
          <p:cNvSpPr txBox="1"/>
          <p:nvPr/>
        </p:nvSpPr>
        <p:spPr>
          <a:xfrm>
            <a:off x="459695" y="1745706"/>
            <a:ext cx="11482466" cy="2515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飞虎队课题：</a:t>
            </a:r>
            <a:r>
              <a:rPr kumimoji="0" lang="en-US" altLang="zh-CN" sz="6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AIGC</a:t>
            </a: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生成的人物异常检测</a:t>
            </a:r>
            <a:r>
              <a:rPr kumimoji="0" lang="en-US" altLang="zh-CN" sz="6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week6</a:t>
            </a:r>
            <a:endParaRPr kumimoji="0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 B" panose="00020600040101010101" pitchFamily="18" charset="-122"/>
            </a:endParaRP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C985B56C-740E-4BB9-917F-013EAA8474B7}"/>
              </a:ext>
            </a:extLst>
          </p:cNvPr>
          <p:cNvGrpSpPr/>
          <p:nvPr/>
        </p:nvGrpSpPr>
        <p:grpSpPr>
          <a:xfrm>
            <a:off x="8859189" y="146088"/>
            <a:ext cx="2930983" cy="1063161"/>
            <a:chOff x="4285093" y="-6242"/>
            <a:chExt cx="3795135" cy="1376619"/>
          </a:xfrm>
        </p:grpSpPr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2829C4A2-989C-49C5-8FA9-52CE7290E71E}"/>
                </a:ext>
              </a:extLst>
            </p:cNvPr>
            <p:cNvGrpSpPr/>
            <p:nvPr/>
          </p:nvGrpSpPr>
          <p:grpSpPr>
            <a:xfrm>
              <a:off x="4285093" y="-6242"/>
              <a:ext cx="3795135" cy="1376619"/>
              <a:chOff x="6597847" y="960547"/>
              <a:chExt cx="4882683" cy="1771112"/>
            </a:xfrm>
          </p:grpSpPr>
          <p:pic>
            <p:nvPicPr>
              <p:cNvPr id="47" name="图片 46">
                <a:extLst>
                  <a:ext uri="{FF2B5EF4-FFF2-40B4-BE49-F238E27FC236}">
                    <a16:creationId xmlns:a16="http://schemas.microsoft.com/office/drawing/2014/main" id="{CFF3C992-06B7-45C2-B675-3CD9DEBA37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597847" y="960547"/>
                <a:ext cx="1771106" cy="1771112"/>
              </a:xfrm>
              <a:prstGeom prst="rect">
                <a:avLst/>
              </a:prstGeom>
            </p:spPr>
          </p:pic>
          <p:pic>
            <p:nvPicPr>
              <p:cNvPr id="48" name="图片 47">
                <a:extLst>
                  <a:ext uri="{FF2B5EF4-FFF2-40B4-BE49-F238E27FC236}">
                    <a16:creationId xmlns:a16="http://schemas.microsoft.com/office/drawing/2014/main" id="{9C87AC23-9356-4893-BA22-93B73D6302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406891" y="1004505"/>
                <a:ext cx="3073639" cy="1271931"/>
              </a:xfrm>
              <a:prstGeom prst="rect">
                <a:avLst/>
              </a:prstGeom>
            </p:spPr>
          </p:pic>
        </p:grp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D2EE5DB9-DFBD-49B4-848B-2299EA7DBA92}"/>
                </a:ext>
              </a:extLst>
            </p:cNvPr>
            <p:cNvSpPr/>
            <p:nvPr/>
          </p:nvSpPr>
          <p:spPr>
            <a:xfrm>
              <a:off x="5763722" y="1032708"/>
              <a:ext cx="2189819" cy="3188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>
                <a:defRPr/>
              </a:pPr>
              <a:r>
                <a:rPr lang="en-US" altLang="zh-CN" sz="1000" b="1" dirty="0">
                  <a:solidFill>
                    <a:schemeClr val="bg1"/>
                  </a:solidFill>
                  <a:latin typeface="Calibri"/>
                  <a:ea typeface="宋体" panose="02010600030101010101" pitchFamily="2" charset="-122"/>
                </a:rPr>
                <a:t>FUDAN UNIVERSITY</a:t>
              </a:r>
            </a:p>
          </p:txBody>
        </p:sp>
      </p:grp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319BC50C-2F63-482E-BB46-0DF7BB7C3E59}"/>
              </a:ext>
            </a:extLst>
          </p:cNvPr>
          <p:cNvSpPr/>
          <p:nvPr/>
        </p:nvSpPr>
        <p:spPr>
          <a:xfrm>
            <a:off x="7879518" y="4718772"/>
            <a:ext cx="2849597" cy="386016"/>
          </a:xfrm>
          <a:prstGeom prst="roundRect">
            <a:avLst>
              <a:gd name="adj" fmla="val 50000"/>
            </a:avLst>
          </a:prstGeom>
          <a:solidFill>
            <a:srgbClr val="104BA4"/>
          </a:solidFill>
          <a:ln>
            <a:noFill/>
          </a:ln>
          <a:effectLst>
            <a:outerShdw blurRad="4572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2026-1-27</a:t>
            </a:r>
            <a:endParaRPr kumimoji="0" lang="zh-CN" altLang="en-US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28C223F0-7CE8-41E5-9B50-26980E3A79E2}"/>
              </a:ext>
            </a:extLst>
          </p:cNvPr>
          <p:cNvGrpSpPr/>
          <p:nvPr/>
        </p:nvGrpSpPr>
        <p:grpSpPr>
          <a:xfrm>
            <a:off x="1672740" y="4518194"/>
            <a:ext cx="9056375" cy="112418"/>
            <a:chOff x="2958650" y="4529138"/>
            <a:chExt cx="6390970" cy="0"/>
          </a:xfrm>
        </p:grpSpPr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DD34CB00-7CBF-41FF-812C-D972CE5ED13F}"/>
                </a:ext>
              </a:extLst>
            </p:cNvPr>
            <p:cNvCxnSpPr>
              <a:cxnSpLocks/>
            </p:cNvCxnSpPr>
            <p:nvPr/>
          </p:nvCxnSpPr>
          <p:spPr>
            <a:xfrm>
              <a:off x="6475751" y="4529138"/>
              <a:ext cx="2873869" cy="0"/>
            </a:xfrm>
            <a:prstGeom prst="line">
              <a:avLst/>
            </a:prstGeom>
            <a:ln w="25400">
              <a:gradFill flip="none" rotWithShape="1">
                <a:gsLst>
                  <a:gs pos="0">
                    <a:srgbClr val="104BA4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12E22B22-2629-4A30-BF1A-0F9C6F37004E}"/>
                </a:ext>
              </a:extLst>
            </p:cNvPr>
            <p:cNvCxnSpPr>
              <a:cxnSpLocks/>
            </p:cNvCxnSpPr>
            <p:nvPr/>
          </p:nvCxnSpPr>
          <p:spPr>
            <a:xfrm>
              <a:off x="2958650" y="4529138"/>
              <a:ext cx="3681993" cy="0"/>
            </a:xfrm>
            <a:prstGeom prst="line">
              <a:avLst/>
            </a:prstGeom>
            <a:ln w="25400">
              <a:gradFill flip="none" rotWithShape="1">
                <a:gsLst>
                  <a:gs pos="96000">
                    <a:srgbClr val="104BA4"/>
                  </a:gs>
                  <a:gs pos="0">
                    <a:schemeClr val="bg1"/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4" name="图片 53">
            <a:extLst>
              <a:ext uri="{FF2B5EF4-FFF2-40B4-BE49-F238E27FC236}">
                <a16:creationId xmlns:a16="http://schemas.microsoft.com/office/drawing/2014/main" id="{1A400646-BDFB-4DBA-9781-0B7716B06C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64703" y="6271460"/>
            <a:ext cx="3760842" cy="502327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0286C27B-57AF-A426-E832-D8932C07074F}"/>
              </a:ext>
            </a:extLst>
          </p:cNvPr>
          <p:cNvSpPr/>
          <p:nvPr/>
        </p:nvSpPr>
        <p:spPr>
          <a:xfrm>
            <a:off x="1287624" y="4718772"/>
            <a:ext cx="3378743" cy="386016"/>
          </a:xfrm>
          <a:prstGeom prst="roundRect">
            <a:avLst>
              <a:gd name="adj" fmla="val 50000"/>
            </a:avLst>
          </a:prstGeom>
          <a:solidFill>
            <a:srgbClr val="104BA4"/>
          </a:solidFill>
          <a:ln>
            <a:noFill/>
          </a:ln>
          <a:effectLst>
            <a:outerShdw blurRad="4572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pc="3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汇报人：</a:t>
            </a:r>
            <a:r>
              <a:rPr lang="zh-CN" altLang="en-US" sz="1600" spc="3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刘皓蓝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CE833E4-E11E-F40F-D8F0-534803E38411}"/>
              </a:ext>
            </a:extLst>
          </p:cNvPr>
          <p:cNvSpPr/>
          <p:nvPr/>
        </p:nvSpPr>
        <p:spPr>
          <a:xfrm>
            <a:off x="4821229" y="4718772"/>
            <a:ext cx="2849595" cy="386016"/>
          </a:xfrm>
          <a:prstGeom prst="roundRect">
            <a:avLst>
              <a:gd name="adj" fmla="val 50000"/>
            </a:avLst>
          </a:prstGeom>
          <a:solidFill>
            <a:srgbClr val="104BA4"/>
          </a:solidFill>
          <a:ln>
            <a:noFill/>
          </a:ln>
          <a:effectLst>
            <a:outerShdw blurRad="4572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pc="3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指导老师：</a:t>
            </a:r>
            <a:r>
              <a:rPr lang="zh-CN" altLang="en-US" sz="1600" spc="3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孙未未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80519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B8DAE-8C0D-E3CD-650A-7B1BAD999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A2395528-CFC3-08C9-D6FC-5F7177C87C9C}"/>
              </a:ext>
            </a:extLst>
          </p:cNvPr>
          <p:cNvSpPr/>
          <p:nvPr/>
        </p:nvSpPr>
        <p:spPr>
          <a:xfrm>
            <a:off x="334963" y="1"/>
            <a:ext cx="895768" cy="1132114"/>
          </a:xfrm>
          <a:prstGeom prst="rect">
            <a:avLst/>
          </a:prstGeom>
          <a:solidFill>
            <a:srgbClr val="104BA4"/>
          </a:solidFill>
          <a:ln>
            <a:noFill/>
          </a:ln>
          <a:effectLst>
            <a:outerShdw blurRad="3302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AE4C4F2-09CC-9CAD-9734-4EB070A2E6E5}"/>
              </a:ext>
            </a:extLst>
          </p:cNvPr>
          <p:cNvSpPr txBox="1"/>
          <p:nvPr/>
        </p:nvSpPr>
        <p:spPr>
          <a:xfrm>
            <a:off x="294551" y="284064"/>
            <a:ext cx="976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</a:t>
            </a:r>
            <a:r>
              <a:rPr lang="en-US" altLang="zh-CN" sz="36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F8309F7-AF86-FCFB-110D-247F89CDCF2A}"/>
              </a:ext>
            </a:extLst>
          </p:cNvPr>
          <p:cNvSpPr txBox="1"/>
          <p:nvPr/>
        </p:nvSpPr>
        <p:spPr>
          <a:xfrm>
            <a:off x="1388075" y="212563"/>
            <a:ext cx="49256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3200" dirty="0">
                <a:solidFill>
                  <a:srgbClr val="104BA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模型弱点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CF8C9AE4-0365-9AAE-68E2-51A7EA992C34}"/>
              </a:ext>
            </a:extLst>
          </p:cNvPr>
          <p:cNvGrpSpPr/>
          <p:nvPr/>
        </p:nvGrpSpPr>
        <p:grpSpPr>
          <a:xfrm>
            <a:off x="9796257" y="238208"/>
            <a:ext cx="1964493" cy="708062"/>
            <a:chOff x="4246274" y="-10895"/>
            <a:chExt cx="3940182" cy="1420161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BC634659-36F6-99C4-FD79-5A3BD2EA2671}"/>
                </a:ext>
              </a:extLst>
            </p:cNvPr>
            <p:cNvGrpSpPr/>
            <p:nvPr/>
          </p:nvGrpSpPr>
          <p:grpSpPr>
            <a:xfrm>
              <a:off x="4246274" y="-10895"/>
              <a:ext cx="3940181" cy="1400681"/>
              <a:chOff x="6547903" y="954561"/>
              <a:chExt cx="5069293" cy="1802069"/>
            </a:xfrm>
          </p:grpSpPr>
          <p:pic>
            <p:nvPicPr>
              <p:cNvPr id="21" name="图片 20">
                <a:extLst>
                  <a:ext uri="{FF2B5EF4-FFF2-40B4-BE49-F238E27FC236}">
                    <a16:creationId xmlns:a16="http://schemas.microsoft.com/office/drawing/2014/main" id="{2FB86E78-213C-1A03-4B1F-EA89A23F7C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547903" y="985519"/>
                <a:ext cx="1771106" cy="1771111"/>
              </a:xfrm>
              <a:prstGeom prst="rect">
                <a:avLst/>
              </a:prstGeom>
            </p:spPr>
          </p:pic>
          <p:pic>
            <p:nvPicPr>
              <p:cNvPr id="22" name="图片 21">
                <a:extLst>
                  <a:ext uri="{FF2B5EF4-FFF2-40B4-BE49-F238E27FC236}">
                    <a16:creationId xmlns:a16="http://schemas.microsoft.com/office/drawing/2014/main" id="{6A1B27A4-A529-77D7-7E98-1196E414A8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270228" y="954561"/>
                <a:ext cx="3346968" cy="1271930"/>
              </a:xfrm>
              <a:prstGeom prst="rect">
                <a:avLst/>
              </a:prstGeom>
            </p:spPr>
          </p:pic>
        </p:grp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04D2A329-45B6-20FF-38C0-D212CD22628D}"/>
                </a:ext>
              </a:extLst>
            </p:cNvPr>
            <p:cNvSpPr/>
            <p:nvPr/>
          </p:nvSpPr>
          <p:spPr>
            <a:xfrm>
              <a:off x="5622894" y="915420"/>
              <a:ext cx="2563562" cy="4938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FUDAN UNIVERSITY</a:t>
              </a: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310E8D30-6E35-CBE9-470A-1653695BC2D7}"/>
              </a:ext>
            </a:extLst>
          </p:cNvPr>
          <p:cNvSpPr txBox="1"/>
          <p:nvPr/>
        </p:nvSpPr>
        <p:spPr>
          <a:xfrm>
            <a:off x="-28703" y="5517549"/>
            <a:ext cx="97520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模型架构设计：</a:t>
            </a:r>
            <a:r>
              <a:rPr lang="en-US" altLang="zh-CN" b="1" dirty="0" err="1"/>
              <a:t>ConvNeXt</a:t>
            </a:r>
            <a:r>
              <a:rPr lang="en-US" altLang="zh-CN" b="1" dirty="0"/>
              <a:t>-Tiny</a:t>
            </a:r>
          </a:p>
          <a:p>
            <a:r>
              <a:rPr lang="zh-CN" altLang="en-US" dirty="0"/>
              <a:t>特征提取：在</a:t>
            </a:r>
            <a:r>
              <a:rPr lang="en-US" altLang="zh-CN" dirty="0"/>
              <a:t>backbone stage4</a:t>
            </a:r>
            <a:r>
              <a:rPr lang="zh-CN" altLang="en-US" dirty="0"/>
              <a:t>输出（</a:t>
            </a:r>
            <a:r>
              <a:rPr lang="en-US" altLang="zh-CN" dirty="0"/>
              <a:t>768*7*7</a:t>
            </a:r>
            <a:r>
              <a:rPr lang="zh-CN" altLang="en-US" dirty="0"/>
              <a:t>）的特征图后，对每一个通道进行全局平均池化。</a:t>
            </a:r>
            <a:endParaRPr lang="en-US" altLang="zh-CN" dirty="0"/>
          </a:p>
          <a:p>
            <a:r>
              <a:rPr lang="zh-CN" altLang="en-US" dirty="0"/>
              <a:t>缺点：异常通常出现在图片局部，全局平均池化降低了局部特征的强度。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85FABA2-5778-B531-A115-C8B2AE6781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84" y="1132116"/>
            <a:ext cx="10009107" cy="4385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197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D522C-7C89-96D5-4869-557CDF41C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420833B9-EB08-DE0D-F797-8CD4CF6C3003}"/>
              </a:ext>
            </a:extLst>
          </p:cNvPr>
          <p:cNvSpPr/>
          <p:nvPr/>
        </p:nvSpPr>
        <p:spPr>
          <a:xfrm>
            <a:off x="334963" y="1"/>
            <a:ext cx="895768" cy="1132114"/>
          </a:xfrm>
          <a:prstGeom prst="rect">
            <a:avLst/>
          </a:prstGeom>
          <a:solidFill>
            <a:srgbClr val="104BA4"/>
          </a:solidFill>
          <a:ln>
            <a:noFill/>
          </a:ln>
          <a:effectLst>
            <a:outerShdw blurRad="3302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B8AAA5E-824A-D406-BE6A-3CAF650BB677}"/>
              </a:ext>
            </a:extLst>
          </p:cNvPr>
          <p:cNvSpPr txBox="1"/>
          <p:nvPr/>
        </p:nvSpPr>
        <p:spPr>
          <a:xfrm>
            <a:off x="294551" y="284064"/>
            <a:ext cx="976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02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71591F9-8B91-0AAA-0742-2095BCC3DBC0}"/>
              </a:ext>
            </a:extLst>
          </p:cNvPr>
          <p:cNvSpPr txBox="1"/>
          <p:nvPr/>
        </p:nvSpPr>
        <p:spPr>
          <a:xfrm>
            <a:off x="1388075" y="212563"/>
            <a:ext cx="49256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3200" dirty="0">
                <a:solidFill>
                  <a:srgbClr val="104BA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Neck</a:t>
            </a:r>
            <a:r>
              <a:rPr lang="zh-CN" altLang="en-US" sz="3200" dirty="0">
                <a:solidFill>
                  <a:srgbClr val="104BA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结构：捕捉局部特征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13E57F33-AD83-B5F7-0BBD-D853C51F8ECD}"/>
              </a:ext>
            </a:extLst>
          </p:cNvPr>
          <p:cNvGrpSpPr/>
          <p:nvPr/>
        </p:nvGrpSpPr>
        <p:grpSpPr>
          <a:xfrm>
            <a:off x="9796257" y="238208"/>
            <a:ext cx="1964493" cy="708062"/>
            <a:chOff x="4246274" y="-10895"/>
            <a:chExt cx="3940182" cy="1420161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7C96BEE2-A5F6-16BF-CE01-571E77A6F778}"/>
                </a:ext>
              </a:extLst>
            </p:cNvPr>
            <p:cNvGrpSpPr/>
            <p:nvPr/>
          </p:nvGrpSpPr>
          <p:grpSpPr>
            <a:xfrm>
              <a:off x="4246274" y="-10895"/>
              <a:ext cx="3940181" cy="1400681"/>
              <a:chOff x="6547903" y="954561"/>
              <a:chExt cx="5069293" cy="1802069"/>
            </a:xfrm>
          </p:grpSpPr>
          <p:pic>
            <p:nvPicPr>
              <p:cNvPr id="21" name="图片 20">
                <a:extLst>
                  <a:ext uri="{FF2B5EF4-FFF2-40B4-BE49-F238E27FC236}">
                    <a16:creationId xmlns:a16="http://schemas.microsoft.com/office/drawing/2014/main" id="{BDDB8B78-933B-8DD8-8F5D-D538B951DD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547903" y="985519"/>
                <a:ext cx="1771106" cy="1771111"/>
              </a:xfrm>
              <a:prstGeom prst="rect">
                <a:avLst/>
              </a:prstGeom>
            </p:spPr>
          </p:pic>
          <p:pic>
            <p:nvPicPr>
              <p:cNvPr id="22" name="图片 21">
                <a:extLst>
                  <a:ext uri="{FF2B5EF4-FFF2-40B4-BE49-F238E27FC236}">
                    <a16:creationId xmlns:a16="http://schemas.microsoft.com/office/drawing/2014/main" id="{432878A7-5D2E-3580-81E8-22536993CB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270228" y="954561"/>
                <a:ext cx="3346968" cy="1271930"/>
              </a:xfrm>
              <a:prstGeom prst="rect">
                <a:avLst/>
              </a:prstGeom>
            </p:spPr>
          </p:pic>
        </p:grp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3463F8D0-626E-2189-05E9-46A2ADABED1C}"/>
                </a:ext>
              </a:extLst>
            </p:cNvPr>
            <p:cNvSpPr/>
            <p:nvPr/>
          </p:nvSpPr>
          <p:spPr>
            <a:xfrm>
              <a:off x="5622894" y="915420"/>
              <a:ext cx="2563562" cy="4938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FUDAN UNIVERSITY</a:t>
              </a: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E510D493-65F3-8395-9DB7-70B03987F27A}"/>
              </a:ext>
            </a:extLst>
          </p:cNvPr>
          <p:cNvSpPr txBox="1"/>
          <p:nvPr/>
        </p:nvSpPr>
        <p:spPr>
          <a:xfrm>
            <a:off x="387392" y="1592225"/>
            <a:ext cx="592632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Neck</a:t>
            </a:r>
            <a:r>
              <a:rPr lang="zh-CN" altLang="en-US" b="1" dirty="0"/>
              <a:t>结构：捕捉局部特征</a:t>
            </a:r>
            <a:endParaRPr lang="en-US" altLang="zh-CN" b="1" dirty="0"/>
          </a:p>
          <a:p>
            <a:r>
              <a:rPr lang="zh-CN" altLang="en-US" b="1" dirty="0"/>
              <a:t>核心逻辑：</a:t>
            </a:r>
            <a:r>
              <a:rPr lang="zh-CN" altLang="en-US" dirty="0"/>
              <a:t>空间注意力 </a:t>
            </a:r>
            <a:r>
              <a:rPr lang="en-US" altLang="zh-CN" dirty="0"/>
              <a:t>+ </a:t>
            </a:r>
            <a:r>
              <a:rPr lang="zh-CN" altLang="en-US" dirty="0"/>
              <a:t>双路池化 </a:t>
            </a:r>
            <a:r>
              <a:rPr lang="en-US" altLang="zh-CN" dirty="0"/>
              <a:t>(</a:t>
            </a:r>
            <a:r>
              <a:rPr lang="en-US" altLang="zh-CN" dirty="0" err="1"/>
              <a:t>Max+Avg</a:t>
            </a:r>
            <a:r>
              <a:rPr lang="en-US" altLang="zh-CN" dirty="0"/>
              <a:t>) + </a:t>
            </a:r>
            <a:r>
              <a:rPr lang="zh-CN" altLang="en-US" dirty="0"/>
              <a:t>投影层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7A52350-DF02-B3FD-C497-95DBE37F63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392" y="2325982"/>
            <a:ext cx="653861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Spatial Attention (空间注意力)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：在池化前，让模型自动学习“该看哪里”异常通常只发生在局部，注意力机制能给异常区域加权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Dual Pooling (双路池化)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：同时使用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Max Pooling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（捕捉最显著的异常特征峰值）和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Avg Pooling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（捕捉全局上下文）。将两者拼接，既不漏掉细节，也不丢失整体。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Projection MLP (投影层)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：将拼接后的特征融合，并进行非线性变换，提取更高级语义。</a:t>
            </a:r>
          </a:p>
        </p:txBody>
      </p:sp>
    </p:spTree>
    <p:extLst>
      <p:ext uri="{BB962C8B-B14F-4D97-AF65-F5344CB8AC3E}">
        <p14:creationId xmlns:p14="http://schemas.microsoft.com/office/powerpoint/2010/main" val="4258600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F2914-707A-69A0-289A-76F960F5B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38ABAC26-4370-1CB8-2351-F26917DF46F0}"/>
              </a:ext>
            </a:extLst>
          </p:cNvPr>
          <p:cNvSpPr/>
          <p:nvPr/>
        </p:nvSpPr>
        <p:spPr>
          <a:xfrm>
            <a:off x="334963" y="1"/>
            <a:ext cx="895768" cy="1132114"/>
          </a:xfrm>
          <a:prstGeom prst="rect">
            <a:avLst/>
          </a:prstGeom>
          <a:solidFill>
            <a:srgbClr val="104BA4"/>
          </a:solidFill>
          <a:ln>
            <a:noFill/>
          </a:ln>
          <a:effectLst>
            <a:outerShdw blurRad="3302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30FD65A-F31C-FED5-107D-968193588142}"/>
              </a:ext>
            </a:extLst>
          </p:cNvPr>
          <p:cNvSpPr txBox="1"/>
          <p:nvPr/>
        </p:nvSpPr>
        <p:spPr>
          <a:xfrm>
            <a:off x="294551" y="284064"/>
            <a:ext cx="976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02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3722A95-6EF6-9957-C17F-C494446A512C}"/>
              </a:ext>
            </a:extLst>
          </p:cNvPr>
          <p:cNvSpPr txBox="1"/>
          <p:nvPr/>
        </p:nvSpPr>
        <p:spPr>
          <a:xfrm>
            <a:off x="1272615" y="193527"/>
            <a:ext cx="48657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3200" dirty="0">
                <a:solidFill>
                  <a:srgbClr val="104BA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Neck</a:t>
            </a:r>
            <a:r>
              <a:rPr lang="zh-CN" altLang="en-US" sz="3200" dirty="0">
                <a:solidFill>
                  <a:srgbClr val="104BA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结构：捕捉局部特征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FA9610BD-C227-D2A1-6554-F2E69E1F43B6}"/>
              </a:ext>
            </a:extLst>
          </p:cNvPr>
          <p:cNvGrpSpPr/>
          <p:nvPr/>
        </p:nvGrpSpPr>
        <p:grpSpPr>
          <a:xfrm>
            <a:off x="9796257" y="238208"/>
            <a:ext cx="1964493" cy="708062"/>
            <a:chOff x="4246274" y="-10895"/>
            <a:chExt cx="3940182" cy="1420161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2718756D-752D-D3B5-A25A-CC0F7F653794}"/>
                </a:ext>
              </a:extLst>
            </p:cNvPr>
            <p:cNvGrpSpPr/>
            <p:nvPr/>
          </p:nvGrpSpPr>
          <p:grpSpPr>
            <a:xfrm>
              <a:off x="4246274" y="-10895"/>
              <a:ext cx="3940181" cy="1400681"/>
              <a:chOff x="6547903" y="954561"/>
              <a:chExt cx="5069293" cy="1802069"/>
            </a:xfrm>
          </p:grpSpPr>
          <p:pic>
            <p:nvPicPr>
              <p:cNvPr id="21" name="图片 20">
                <a:extLst>
                  <a:ext uri="{FF2B5EF4-FFF2-40B4-BE49-F238E27FC236}">
                    <a16:creationId xmlns:a16="http://schemas.microsoft.com/office/drawing/2014/main" id="{6106DBD3-6DA0-6A74-CC5E-8B13EA19B2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547903" y="985519"/>
                <a:ext cx="1771106" cy="1771111"/>
              </a:xfrm>
              <a:prstGeom prst="rect">
                <a:avLst/>
              </a:prstGeom>
            </p:spPr>
          </p:pic>
          <p:pic>
            <p:nvPicPr>
              <p:cNvPr id="22" name="图片 21">
                <a:extLst>
                  <a:ext uri="{FF2B5EF4-FFF2-40B4-BE49-F238E27FC236}">
                    <a16:creationId xmlns:a16="http://schemas.microsoft.com/office/drawing/2014/main" id="{E07C0223-3E70-FA7D-703A-EB4AE23282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270228" y="954561"/>
                <a:ext cx="3346968" cy="1271930"/>
              </a:xfrm>
              <a:prstGeom prst="rect">
                <a:avLst/>
              </a:prstGeom>
            </p:spPr>
          </p:pic>
        </p:grp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E9A4D5AC-BAA4-671D-BF29-C30AE2C28999}"/>
                </a:ext>
              </a:extLst>
            </p:cNvPr>
            <p:cNvSpPr/>
            <p:nvPr/>
          </p:nvSpPr>
          <p:spPr>
            <a:xfrm>
              <a:off x="5622894" y="915420"/>
              <a:ext cx="2563562" cy="4938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FUDAN UNIVERSITY</a:t>
              </a:r>
            </a:p>
          </p:txBody>
        </p:sp>
      </p:grp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6B800EE8-D84B-D1EC-709B-C9C31754734F}"/>
              </a:ext>
            </a:extLst>
          </p:cNvPr>
          <p:cNvSpPr/>
          <p:nvPr/>
        </p:nvSpPr>
        <p:spPr>
          <a:xfrm>
            <a:off x="1413408" y="1031585"/>
            <a:ext cx="2987040" cy="2853802"/>
          </a:xfrm>
          <a:prstGeom prst="roundRect">
            <a:avLst/>
          </a:prstGeom>
          <a:noFill/>
          <a:ln w="25400">
            <a:solidFill>
              <a:srgbClr val="FFDA94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A1470634-BF3D-5ABC-B203-10B4670CB607}"/>
              </a:ext>
            </a:extLst>
          </p:cNvPr>
          <p:cNvSpPr/>
          <p:nvPr/>
        </p:nvSpPr>
        <p:spPr>
          <a:xfrm>
            <a:off x="1903941" y="920914"/>
            <a:ext cx="2045651" cy="282901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Neck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F4D42BD-7C7B-9A1D-BDAF-79CE6ACAB51F}"/>
              </a:ext>
            </a:extLst>
          </p:cNvPr>
          <p:cNvSpPr/>
          <p:nvPr/>
        </p:nvSpPr>
        <p:spPr>
          <a:xfrm>
            <a:off x="2188751" y="2154398"/>
            <a:ext cx="1289882" cy="34228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 (768,1, 1)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4CC23CD-C07A-A4D8-B5A3-DDDC862D93A0}"/>
              </a:ext>
            </a:extLst>
          </p:cNvPr>
          <p:cNvSpPr/>
          <p:nvPr/>
        </p:nvSpPr>
        <p:spPr>
          <a:xfrm>
            <a:off x="2188749" y="2807538"/>
            <a:ext cx="1289884" cy="34228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FLATTEN (768)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5259CC5-5F43-0ACC-18DC-C40357C57BE6}"/>
              </a:ext>
            </a:extLst>
          </p:cNvPr>
          <p:cNvSpPr txBox="1"/>
          <p:nvPr/>
        </p:nvSpPr>
        <p:spPr>
          <a:xfrm>
            <a:off x="2501137" y="1403204"/>
            <a:ext cx="8115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(768, 7, 7)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C53C476-2E4A-C05D-E16D-A87CD9F1955B}"/>
              </a:ext>
            </a:extLst>
          </p:cNvPr>
          <p:cNvSpPr txBox="1"/>
          <p:nvPr/>
        </p:nvSpPr>
        <p:spPr>
          <a:xfrm>
            <a:off x="2261986" y="3588645"/>
            <a:ext cx="12898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(768)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连接符: 曲线 8">
            <a:extLst>
              <a:ext uri="{FF2B5EF4-FFF2-40B4-BE49-F238E27FC236}">
                <a16:creationId xmlns:a16="http://schemas.microsoft.com/office/drawing/2014/main" id="{4714F1F0-22F8-AEB3-5DDC-DA830CAEB17F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rot="5400000">
            <a:off x="2678264" y="2652110"/>
            <a:ext cx="310856" cy="1"/>
          </a:xfrm>
          <a:prstGeom prst="curvedConnector3">
            <a:avLst/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连接符: 曲线 10">
            <a:extLst>
              <a:ext uri="{FF2B5EF4-FFF2-40B4-BE49-F238E27FC236}">
                <a16:creationId xmlns:a16="http://schemas.microsoft.com/office/drawing/2014/main" id="{65C374D1-5131-22A2-C425-33959B4B0AD9}"/>
              </a:ext>
            </a:extLst>
          </p:cNvPr>
          <p:cNvCxnSpPr>
            <a:cxnSpLocks/>
            <a:stCxn id="7" idx="2"/>
            <a:endCxn id="4" idx="0"/>
          </p:cNvCxnSpPr>
          <p:nvPr/>
        </p:nvCxnSpPr>
        <p:spPr>
          <a:xfrm rot="5400000">
            <a:off x="2617824" y="1865293"/>
            <a:ext cx="504973" cy="73236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连接符: 曲线 29">
            <a:extLst>
              <a:ext uri="{FF2B5EF4-FFF2-40B4-BE49-F238E27FC236}">
                <a16:creationId xmlns:a16="http://schemas.microsoft.com/office/drawing/2014/main" id="{C877C32F-8172-FC43-15E3-295F9A3D99F5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rot="16200000" flipH="1">
            <a:off x="2650898" y="3332614"/>
            <a:ext cx="438823" cy="73237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1BD95CF5-AFAC-6505-B20F-FE8E5DDC7F50}"/>
              </a:ext>
            </a:extLst>
          </p:cNvPr>
          <p:cNvSpPr/>
          <p:nvPr/>
        </p:nvSpPr>
        <p:spPr>
          <a:xfrm>
            <a:off x="6244944" y="1173035"/>
            <a:ext cx="2987040" cy="2853802"/>
          </a:xfrm>
          <a:prstGeom prst="roundRect">
            <a:avLst/>
          </a:prstGeom>
          <a:noFill/>
          <a:ln w="25400">
            <a:solidFill>
              <a:srgbClr val="FFDA94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0AE7341B-E038-0B3A-DC3C-98BE2319003B}"/>
              </a:ext>
            </a:extLst>
          </p:cNvPr>
          <p:cNvSpPr/>
          <p:nvPr/>
        </p:nvSpPr>
        <p:spPr>
          <a:xfrm>
            <a:off x="6735477" y="1062364"/>
            <a:ext cx="2045651" cy="282901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Neck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2C268C1-CCF6-B789-4D42-32E008BF942E}"/>
              </a:ext>
            </a:extLst>
          </p:cNvPr>
          <p:cNvSpPr/>
          <p:nvPr/>
        </p:nvSpPr>
        <p:spPr>
          <a:xfrm>
            <a:off x="6300605" y="1873316"/>
            <a:ext cx="1289882" cy="34228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ATTN: (768, 7, 7)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E0611CE-02CC-8D80-F283-4BC32FFA113A}"/>
              </a:ext>
            </a:extLst>
          </p:cNvPr>
          <p:cNvSpPr/>
          <p:nvPr/>
        </p:nvSpPr>
        <p:spPr>
          <a:xfrm>
            <a:off x="7766293" y="1882363"/>
            <a:ext cx="1289884" cy="34228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RESIDUAL:</a:t>
            </a:r>
          </a:p>
          <a:p>
            <a:pPr algn="ctr">
              <a:lnSpc>
                <a:spcPct val="125000"/>
              </a:lnSpc>
            </a:pP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(768, 7, 7)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AAF6F56E-075B-6DEE-5F3A-607922320311}"/>
              </a:ext>
            </a:extLst>
          </p:cNvPr>
          <p:cNvSpPr/>
          <p:nvPr/>
        </p:nvSpPr>
        <p:spPr>
          <a:xfrm>
            <a:off x="7777686" y="2591691"/>
            <a:ext cx="1322752" cy="34228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GAP(768, 1, 1)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457A6141-80BD-8412-0DEA-C23F3BFB34C0}"/>
              </a:ext>
            </a:extLst>
          </p:cNvPr>
          <p:cNvSpPr txBox="1"/>
          <p:nvPr/>
        </p:nvSpPr>
        <p:spPr>
          <a:xfrm>
            <a:off x="7332673" y="1423994"/>
            <a:ext cx="8115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(768, 7, 7)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0" name="连接符: 曲线 49">
            <a:extLst>
              <a:ext uri="{FF2B5EF4-FFF2-40B4-BE49-F238E27FC236}">
                <a16:creationId xmlns:a16="http://schemas.microsoft.com/office/drawing/2014/main" id="{D5961052-1C44-F3E5-F014-0A1CD0D6FE40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 rot="5400000" flipH="1" flipV="1">
            <a:off x="7511771" y="1316137"/>
            <a:ext cx="333237" cy="1465689"/>
          </a:xfrm>
          <a:prstGeom prst="curvedConnector5">
            <a:avLst>
              <a:gd name="adj1" fmla="val -68600"/>
              <a:gd name="adj2" fmla="val 50000"/>
              <a:gd name="adj3" fmla="val 1686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连接符: 曲线 50">
            <a:extLst>
              <a:ext uri="{FF2B5EF4-FFF2-40B4-BE49-F238E27FC236}">
                <a16:creationId xmlns:a16="http://schemas.microsoft.com/office/drawing/2014/main" id="{3F440F53-76A0-222E-1B59-FDA1672ABB1C}"/>
              </a:ext>
            </a:extLst>
          </p:cNvPr>
          <p:cNvCxnSpPr>
            <a:cxnSpLocks/>
            <a:stCxn id="44" idx="2"/>
            <a:endCxn id="45" idx="0"/>
          </p:cNvCxnSpPr>
          <p:nvPr/>
        </p:nvCxnSpPr>
        <p:spPr>
          <a:xfrm rot="16200000" flipH="1">
            <a:off x="8241626" y="2394255"/>
            <a:ext cx="367044" cy="27827"/>
          </a:xfrm>
          <a:prstGeom prst="curvedConnector3">
            <a:avLst/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连接符: 曲线 51">
            <a:extLst>
              <a:ext uri="{FF2B5EF4-FFF2-40B4-BE49-F238E27FC236}">
                <a16:creationId xmlns:a16="http://schemas.microsoft.com/office/drawing/2014/main" id="{3DEA0439-F585-7D5F-5A22-2914D08B06CC}"/>
              </a:ext>
            </a:extLst>
          </p:cNvPr>
          <p:cNvCxnSpPr>
            <a:cxnSpLocks/>
            <a:stCxn id="48" idx="2"/>
            <a:endCxn id="43" idx="0"/>
          </p:cNvCxnSpPr>
          <p:nvPr/>
        </p:nvCxnSpPr>
        <p:spPr>
          <a:xfrm rot="5400000">
            <a:off x="7240455" y="1375306"/>
            <a:ext cx="203101" cy="792918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连接符: 曲线 52">
            <a:extLst>
              <a:ext uri="{FF2B5EF4-FFF2-40B4-BE49-F238E27FC236}">
                <a16:creationId xmlns:a16="http://schemas.microsoft.com/office/drawing/2014/main" id="{AF40DA77-4263-937A-7FD6-01346A86AC3F}"/>
              </a:ext>
            </a:extLst>
          </p:cNvPr>
          <p:cNvCxnSpPr>
            <a:cxnSpLocks/>
            <a:stCxn id="45" idx="2"/>
            <a:endCxn id="125" idx="0"/>
          </p:cNvCxnSpPr>
          <p:nvPr/>
        </p:nvCxnSpPr>
        <p:spPr>
          <a:xfrm rot="5400000">
            <a:off x="7628057" y="2313172"/>
            <a:ext cx="190203" cy="1431808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12F76715-4FA8-7398-7D47-71AE683F75F2}"/>
              </a:ext>
            </a:extLst>
          </p:cNvPr>
          <p:cNvSpPr/>
          <p:nvPr/>
        </p:nvSpPr>
        <p:spPr>
          <a:xfrm>
            <a:off x="1225510" y="4084307"/>
            <a:ext cx="3468312" cy="2413000"/>
          </a:xfrm>
          <a:prstGeom prst="roundRect">
            <a:avLst/>
          </a:prstGeom>
          <a:noFill/>
          <a:ln w="25400">
            <a:solidFill>
              <a:srgbClr val="F6AC8D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B0F3D97D-7DBD-8A16-8E86-E80963DD8B4C}"/>
              </a:ext>
            </a:extLst>
          </p:cNvPr>
          <p:cNvSpPr/>
          <p:nvPr/>
        </p:nvSpPr>
        <p:spPr>
          <a:xfrm>
            <a:off x="1307185" y="4319093"/>
            <a:ext cx="3212545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C530513C-662F-CC75-6767-A1CE50E9978E}"/>
              </a:ext>
            </a:extLst>
          </p:cNvPr>
          <p:cNvSpPr/>
          <p:nvPr/>
        </p:nvSpPr>
        <p:spPr>
          <a:xfrm>
            <a:off x="1307186" y="4847968"/>
            <a:ext cx="1527678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A28A93B1-0FD1-DD80-6F29-330BED42519B}"/>
              </a:ext>
            </a:extLst>
          </p:cNvPr>
          <p:cNvSpPr/>
          <p:nvPr/>
        </p:nvSpPr>
        <p:spPr>
          <a:xfrm>
            <a:off x="1307186" y="5424162"/>
            <a:ext cx="1527678" cy="268310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multilabel logits</a:t>
            </a:r>
          </a:p>
          <a:p>
            <a:pPr algn="ctr"/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类）</a:t>
            </a:r>
          </a:p>
        </p:txBody>
      </p:sp>
      <p:cxnSp>
        <p:nvCxnSpPr>
          <p:cNvPr id="75" name="连接符: 曲线 74">
            <a:extLst>
              <a:ext uri="{FF2B5EF4-FFF2-40B4-BE49-F238E27FC236}">
                <a16:creationId xmlns:a16="http://schemas.microsoft.com/office/drawing/2014/main" id="{D66A696D-0C54-60E8-7F81-B072FA940649}"/>
              </a:ext>
            </a:extLst>
          </p:cNvPr>
          <p:cNvCxnSpPr>
            <a:cxnSpLocks/>
            <a:stCxn id="72" idx="2"/>
          </p:cNvCxnSpPr>
          <p:nvPr/>
        </p:nvCxnSpPr>
        <p:spPr>
          <a:xfrm rot="5400000">
            <a:off x="2318050" y="4219416"/>
            <a:ext cx="304367" cy="886451"/>
          </a:xfrm>
          <a:prstGeom prst="curvedConnector2">
            <a:avLst/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连接符: 曲线 75">
            <a:extLst>
              <a:ext uri="{FF2B5EF4-FFF2-40B4-BE49-F238E27FC236}">
                <a16:creationId xmlns:a16="http://schemas.microsoft.com/office/drawing/2014/main" id="{469C12CC-37BD-6E2A-9F90-E0B9B07DEC61}"/>
              </a:ext>
            </a:extLst>
          </p:cNvPr>
          <p:cNvCxnSpPr>
            <a:cxnSpLocks/>
            <a:stCxn id="73" idx="2"/>
            <a:endCxn id="74" idx="0"/>
          </p:cNvCxnSpPr>
          <p:nvPr/>
        </p:nvCxnSpPr>
        <p:spPr>
          <a:xfrm rot="5400000">
            <a:off x="1878611" y="5231747"/>
            <a:ext cx="384829" cy="12700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0130A016-E220-E7C6-B31B-E5D1FF0C89F2}"/>
              </a:ext>
            </a:extLst>
          </p:cNvPr>
          <p:cNvSpPr/>
          <p:nvPr/>
        </p:nvSpPr>
        <p:spPr>
          <a:xfrm>
            <a:off x="2992052" y="4847966"/>
            <a:ext cx="1527678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8" name="连接符: 曲线 77">
            <a:extLst>
              <a:ext uri="{FF2B5EF4-FFF2-40B4-BE49-F238E27FC236}">
                <a16:creationId xmlns:a16="http://schemas.microsoft.com/office/drawing/2014/main" id="{037C190C-E190-F06C-E520-D9C28DDAB4C3}"/>
              </a:ext>
            </a:extLst>
          </p:cNvPr>
          <p:cNvCxnSpPr>
            <a:cxnSpLocks/>
            <a:stCxn id="72" idx="2"/>
            <a:endCxn id="77" idx="0"/>
          </p:cNvCxnSpPr>
          <p:nvPr/>
        </p:nvCxnSpPr>
        <p:spPr>
          <a:xfrm rot="16200000" flipH="1">
            <a:off x="3165920" y="4257995"/>
            <a:ext cx="337508" cy="842433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4C0F4F04-094C-C184-8988-EFEB29C00CA3}"/>
              </a:ext>
            </a:extLst>
          </p:cNvPr>
          <p:cNvSpPr/>
          <p:nvPr/>
        </p:nvSpPr>
        <p:spPr>
          <a:xfrm>
            <a:off x="3000504" y="5424162"/>
            <a:ext cx="1527678" cy="268310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Binarylabel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logits</a:t>
            </a:r>
          </a:p>
          <a:p>
            <a:pPr algn="ctr"/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类）</a:t>
            </a:r>
          </a:p>
        </p:txBody>
      </p:sp>
      <p:cxnSp>
        <p:nvCxnSpPr>
          <p:cNvPr id="80" name="连接符: 曲线 79">
            <a:extLst>
              <a:ext uri="{FF2B5EF4-FFF2-40B4-BE49-F238E27FC236}">
                <a16:creationId xmlns:a16="http://schemas.microsoft.com/office/drawing/2014/main" id="{D8A92E4B-2F26-5612-AC6A-045FF54C7E5B}"/>
              </a:ext>
            </a:extLst>
          </p:cNvPr>
          <p:cNvCxnSpPr>
            <a:cxnSpLocks/>
            <a:stCxn id="77" idx="2"/>
            <a:endCxn id="79" idx="0"/>
          </p:cNvCxnSpPr>
          <p:nvPr/>
        </p:nvCxnSpPr>
        <p:spPr>
          <a:xfrm rot="16200000" flipH="1">
            <a:off x="3567702" y="5227520"/>
            <a:ext cx="384831" cy="8452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" name="矩形: 圆角 80">
            <a:extLst>
              <a:ext uri="{FF2B5EF4-FFF2-40B4-BE49-F238E27FC236}">
                <a16:creationId xmlns:a16="http://schemas.microsoft.com/office/drawing/2014/main" id="{BED44023-72B2-0E6A-FCCB-9B1A23B9E41A}"/>
              </a:ext>
            </a:extLst>
          </p:cNvPr>
          <p:cNvSpPr/>
          <p:nvPr/>
        </p:nvSpPr>
        <p:spPr>
          <a:xfrm>
            <a:off x="2149618" y="6115799"/>
            <a:ext cx="1527678" cy="268310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loss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2" name="连接符: 曲线 81">
            <a:extLst>
              <a:ext uri="{FF2B5EF4-FFF2-40B4-BE49-F238E27FC236}">
                <a16:creationId xmlns:a16="http://schemas.microsoft.com/office/drawing/2014/main" id="{4B2CFE52-1A91-A4C0-4265-3295C89E1B98}"/>
              </a:ext>
            </a:extLst>
          </p:cNvPr>
          <p:cNvCxnSpPr>
            <a:cxnSpLocks/>
            <a:stCxn id="74" idx="2"/>
            <a:endCxn id="81" idx="0"/>
          </p:cNvCxnSpPr>
          <p:nvPr/>
        </p:nvCxnSpPr>
        <p:spPr>
          <a:xfrm rot="16200000" flipH="1">
            <a:off x="2280578" y="5482919"/>
            <a:ext cx="423327" cy="842432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连接符: 曲线 82">
            <a:extLst>
              <a:ext uri="{FF2B5EF4-FFF2-40B4-BE49-F238E27FC236}">
                <a16:creationId xmlns:a16="http://schemas.microsoft.com/office/drawing/2014/main" id="{2B44DE89-41DA-1904-3C4A-6375F8932507}"/>
              </a:ext>
            </a:extLst>
          </p:cNvPr>
          <p:cNvCxnSpPr>
            <a:cxnSpLocks/>
            <a:stCxn id="79" idx="2"/>
            <a:endCxn id="81" idx="0"/>
          </p:cNvCxnSpPr>
          <p:nvPr/>
        </p:nvCxnSpPr>
        <p:spPr>
          <a:xfrm rot="5400000">
            <a:off x="3127237" y="5478692"/>
            <a:ext cx="423327" cy="850886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连接符: 曲线 86">
            <a:extLst>
              <a:ext uri="{FF2B5EF4-FFF2-40B4-BE49-F238E27FC236}">
                <a16:creationId xmlns:a16="http://schemas.microsoft.com/office/drawing/2014/main" id="{D0969F61-70DF-DE5D-9632-EE5B6794F3D7}"/>
              </a:ext>
            </a:extLst>
          </p:cNvPr>
          <p:cNvCxnSpPr>
            <a:cxnSpLocks/>
            <a:stCxn id="8" idx="2"/>
            <a:endCxn id="72" idx="0"/>
          </p:cNvCxnSpPr>
          <p:nvPr/>
        </p:nvCxnSpPr>
        <p:spPr>
          <a:xfrm rot="16200000" flipH="1">
            <a:off x="2668080" y="4073714"/>
            <a:ext cx="484227" cy="6530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箭头: 下 93">
            <a:extLst>
              <a:ext uri="{FF2B5EF4-FFF2-40B4-BE49-F238E27FC236}">
                <a16:creationId xmlns:a16="http://schemas.microsoft.com/office/drawing/2014/main" id="{595FB7FE-49F3-990A-5324-E6C1B977CE06}"/>
              </a:ext>
            </a:extLst>
          </p:cNvPr>
          <p:cNvSpPr/>
          <p:nvPr/>
        </p:nvSpPr>
        <p:spPr>
          <a:xfrm rot="16200000">
            <a:off x="5241417" y="2606087"/>
            <a:ext cx="229925" cy="424901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cxnSp>
        <p:nvCxnSpPr>
          <p:cNvPr id="98" name="连接符: 曲线 97">
            <a:extLst>
              <a:ext uri="{FF2B5EF4-FFF2-40B4-BE49-F238E27FC236}">
                <a16:creationId xmlns:a16="http://schemas.microsoft.com/office/drawing/2014/main" id="{305BB4B1-4117-75DB-92C2-4F74202D1899}"/>
              </a:ext>
            </a:extLst>
          </p:cNvPr>
          <p:cNvCxnSpPr>
            <a:cxnSpLocks/>
            <a:stCxn id="48" idx="2"/>
            <a:endCxn id="44" idx="0"/>
          </p:cNvCxnSpPr>
          <p:nvPr/>
        </p:nvCxnSpPr>
        <p:spPr>
          <a:xfrm rot="16200000" flipH="1">
            <a:off x="7968775" y="1439903"/>
            <a:ext cx="212148" cy="672771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9" name="矩形 118">
            <a:extLst>
              <a:ext uri="{FF2B5EF4-FFF2-40B4-BE49-F238E27FC236}">
                <a16:creationId xmlns:a16="http://schemas.microsoft.com/office/drawing/2014/main" id="{E2DC8C2E-FF13-DA27-951C-246679C12683}"/>
              </a:ext>
            </a:extLst>
          </p:cNvPr>
          <p:cNvSpPr/>
          <p:nvPr/>
        </p:nvSpPr>
        <p:spPr>
          <a:xfrm>
            <a:off x="6312311" y="2583902"/>
            <a:ext cx="1322752" cy="34228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GMP(768, 1, 1)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1" name="连接符: 曲线 120">
            <a:extLst>
              <a:ext uri="{FF2B5EF4-FFF2-40B4-BE49-F238E27FC236}">
                <a16:creationId xmlns:a16="http://schemas.microsoft.com/office/drawing/2014/main" id="{478260DA-AD21-D952-F956-0AFD9E1D24B6}"/>
              </a:ext>
            </a:extLst>
          </p:cNvPr>
          <p:cNvCxnSpPr>
            <a:cxnSpLocks/>
            <a:stCxn id="119" idx="2"/>
            <a:endCxn id="125" idx="0"/>
          </p:cNvCxnSpPr>
          <p:nvPr/>
        </p:nvCxnSpPr>
        <p:spPr>
          <a:xfrm rot="16200000" flipH="1">
            <a:off x="6891474" y="3008398"/>
            <a:ext cx="197992" cy="33567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5" name="矩形 124">
            <a:extLst>
              <a:ext uri="{FF2B5EF4-FFF2-40B4-BE49-F238E27FC236}">
                <a16:creationId xmlns:a16="http://schemas.microsoft.com/office/drawing/2014/main" id="{4D92765C-6B91-381B-C4C2-DB5C901B8621}"/>
              </a:ext>
            </a:extLst>
          </p:cNvPr>
          <p:cNvSpPr/>
          <p:nvPr/>
        </p:nvSpPr>
        <p:spPr>
          <a:xfrm>
            <a:off x="6300605" y="3124178"/>
            <a:ext cx="1413298" cy="34228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CONTACT(768*2, 1, 1)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DBB6295B-CE04-2A63-8ECB-DE7F4371FF9B}"/>
              </a:ext>
            </a:extLst>
          </p:cNvPr>
          <p:cNvSpPr/>
          <p:nvPr/>
        </p:nvSpPr>
        <p:spPr>
          <a:xfrm>
            <a:off x="7779625" y="3131814"/>
            <a:ext cx="1413298" cy="34228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PROJECT(768, 1, 1)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5" name="连接符: 曲线 134">
            <a:extLst>
              <a:ext uri="{FF2B5EF4-FFF2-40B4-BE49-F238E27FC236}">
                <a16:creationId xmlns:a16="http://schemas.microsoft.com/office/drawing/2014/main" id="{97B1C345-A8D6-2194-3DE0-3B77D8E429EE}"/>
              </a:ext>
            </a:extLst>
          </p:cNvPr>
          <p:cNvCxnSpPr>
            <a:cxnSpLocks/>
            <a:stCxn id="125" idx="2"/>
            <a:endCxn id="132" idx="0"/>
          </p:cNvCxnSpPr>
          <p:nvPr/>
        </p:nvCxnSpPr>
        <p:spPr>
          <a:xfrm rot="5400000" flipH="1" flipV="1">
            <a:off x="7579440" y="2559628"/>
            <a:ext cx="334648" cy="1479020"/>
          </a:xfrm>
          <a:prstGeom prst="curvedConnector5">
            <a:avLst>
              <a:gd name="adj1" fmla="val -68311"/>
              <a:gd name="adj2" fmla="val 50000"/>
              <a:gd name="adj3" fmla="val 168311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9" name="矩形: 圆角 138">
            <a:extLst>
              <a:ext uri="{FF2B5EF4-FFF2-40B4-BE49-F238E27FC236}">
                <a16:creationId xmlns:a16="http://schemas.microsoft.com/office/drawing/2014/main" id="{D1DBECC4-7C47-43DB-6E5F-3FCBBC6C5E78}"/>
              </a:ext>
            </a:extLst>
          </p:cNvPr>
          <p:cNvSpPr/>
          <p:nvPr/>
        </p:nvSpPr>
        <p:spPr>
          <a:xfrm>
            <a:off x="6096000" y="4137508"/>
            <a:ext cx="3468312" cy="2413000"/>
          </a:xfrm>
          <a:prstGeom prst="roundRect">
            <a:avLst/>
          </a:prstGeom>
          <a:noFill/>
          <a:ln w="25400">
            <a:solidFill>
              <a:srgbClr val="F6AC8D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矩形: 圆角 139">
            <a:extLst>
              <a:ext uri="{FF2B5EF4-FFF2-40B4-BE49-F238E27FC236}">
                <a16:creationId xmlns:a16="http://schemas.microsoft.com/office/drawing/2014/main" id="{53DCE0C2-A670-6AFE-47C9-B2772E19A7AA}"/>
              </a:ext>
            </a:extLst>
          </p:cNvPr>
          <p:cNvSpPr/>
          <p:nvPr/>
        </p:nvSpPr>
        <p:spPr>
          <a:xfrm>
            <a:off x="6177675" y="4372294"/>
            <a:ext cx="3212545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矩形: 圆角 140">
            <a:extLst>
              <a:ext uri="{FF2B5EF4-FFF2-40B4-BE49-F238E27FC236}">
                <a16:creationId xmlns:a16="http://schemas.microsoft.com/office/drawing/2014/main" id="{1EAC1DF3-3A86-C3F0-DBBB-3D7959CB7EFA}"/>
              </a:ext>
            </a:extLst>
          </p:cNvPr>
          <p:cNvSpPr/>
          <p:nvPr/>
        </p:nvSpPr>
        <p:spPr>
          <a:xfrm>
            <a:off x="6177676" y="4901169"/>
            <a:ext cx="1527678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矩形: 圆角 141">
            <a:extLst>
              <a:ext uri="{FF2B5EF4-FFF2-40B4-BE49-F238E27FC236}">
                <a16:creationId xmlns:a16="http://schemas.microsoft.com/office/drawing/2014/main" id="{078B98F7-9CA2-F8C5-BD20-86D15F3C7C77}"/>
              </a:ext>
            </a:extLst>
          </p:cNvPr>
          <p:cNvSpPr/>
          <p:nvPr/>
        </p:nvSpPr>
        <p:spPr>
          <a:xfrm>
            <a:off x="6177676" y="5477363"/>
            <a:ext cx="1527678" cy="268310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multilabel logits</a:t>
            </a:r>
          </a:p>
          <a:p>
            <a:pPr algn="ctr"/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类）</a:t>
            </a:r>
          </a:p>
        </p:txBody>
      </p:sp>
      <p:cxnSp>
        <p:nvCxnSpPr>
          <p:cNvPr id="143" name="连接符: 曲线 142">
            <a:extLst>
              <a:ext uri="{FF2B5EF4-FFF2-40B4-BE49-F238E27FC236}">
                <a16:creationId xmlns:a16="http://schemas.microsoft.com/office/drawing/2014/main" id="{7251B016-4AB3-A8AB-84C5-701CADE763FC}"/>
              </a:ext>
            </a:extLst>
          </p:cNvPr>
          <p:cNvCxnSpPr>
            <a:cxnSpLocks/>
            <a:stCxn id="140" idx="2"/>
          </p:cNvCxnSpPr>
          <p:nvPr/>
        </p:nvCxnSpPr>
        <p:spPr>
          <a:xfrm rot="5400000">
            <a:off x="7188540" y="4272617"/>
            <a:ext cx="304367" cy="886451"/>
          </a:xfrm>
          <a:prstGeom prst="curvedConnector2">
            <a:avLst/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4" name="连接符: 曲线 143">
            <a:extLst>
              <a:ext uri="{FF2B5EF4-FFF2-40B4-BE49-F238E27FC236}">
                <a16:creationId xmlns:a16="http://schemas.microsoft.com/office/drawing/2014/main" id="{277272DF-C635-39D2-E4BD-CF06C3E01B1D}"/>
              </a:ext>
            </a:extLst>
          </p:cNvPr>
          <p:cNvCxnSpPr>
            <a:cxnSpLocks/>
            <a:stCxn id="141" idx="2"/>
            <a:endCxn id="142" idx="0"/>
          </p:cNvCxnSpPr>
          <p:nvPr/>
        </p:nvCxnSpPr>
        <p:spPr>
          <a:xfrm rot="5400000">
            <a:off x="6749101" y="5284948"/>
            <a:ext cx="384829" cy="12700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5" name="矩形: 圆角 144">
            <a:extLst>
              <a:ext uri="{FF2B5EF4-FFF2-40B4-BE49-F238E27FC236}">
                <a16:creationId xmlns:a16="http://schemas.microsoft.com/office/drawing/2014/main" id="{59E2FF72-3987-FF33-B609-BCCED773C00E}"/>
              </a:ext>
            </a:extLst>
          </p:cNvPr>
          <p:cNvSpPr/>
          <p:nvPr/>
        </p:nvSpPr>
        <p:spPr>
          <a:xfrm>
            <a:off x="7862542" y="4901167"/>
            <a:ext cx="1527678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6" name="连接符: 曲线 145">
            <a:extLst>
              <a:ext uri="{FF2B5EF4-FFF2-40B4-BE49-F238E27FC236}">
                <a16:creationId xmlns:a16="http://schemas.microsoft.com/office/drawing/2014/main" id="{D7861730-D511-3EA3-A4E8-5705D5A38861}"/>
              </a:ext>
            </a:extLst>
          </p:cNvPr>
          <p:cNvCxnSpPr>
            <a:cxnSpLocks/>
            <a:stCxn id="140" idx="2"/>
            <a:endCxn id="145" idx="0"/>
          </p:cNvCxnSpPr>
          <p:nvPr/>
        </p:nvCxnSpPr>
        <p:spPr>
          <a:xfrm rot="16200000" flipH="1">
            <a:off x="8036410" y="4311196"/>
            <a:ext cx="337508" cy="842433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7" name="矩形: 圆角 146">
            <a:extLst>
              <a:ext uri="{FF2B5EF4-FFF2-40B4-BE49-F238E27FC236}">
                <a16:creationId xmlns:a16="http://schemas.microsoft.com/office/drawing/2014/main" id="{2F732881-185D-2F73-21AF-28DD880ECB09}"/>
              </a:ext>
            </a:extLst>
          </p:cNvPr>
          <p:cNvSpPr/>
          <p:nvPr/>
        </p:nvSpPr>
        <p:spPr>
          <a:xfrm>
            <a:off x="7870994" y="5477363"/>
            <a:ext cx="1527678" cy="268310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Binarylabel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logits</a:t>
            </a:r>
          </a:p>
          <a:p>
            <a:pPr algn="ctr"/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类）</a:t>
            </a:r>
          </a:p>
        </p:txBody>
      </p:sp>
      <p:cxnSp>
        <p:nvCxnSpPr>
          <p:cNvPr id="148" name="连接符: 曲线 147">
            <a:extLst>
              <a:ext uri="{FF2B5EF4-FFF2-40B4-BE49-F238E27FC236}">
                <a16:creationId xmlns:a16="http://schemas.microsoft.com/office/drawing/2014/main" id="{D60F96FE-DC83-55C0-1449-4A0836E7091A}"/>
              </a:ext>
            </a:extLst>
          </p:cNvPr>
          <p:cNvCxnSpPr>
            <a:cxnSpLocks/>
            <a:stCxn id="145" idx="2"/>
            <a:endCxn id="147" idx="0"/>
          </p:cNvCxnSpPr>
          <p:nvPr/>
        </p:nvCxnSpPr>
        <p:spPr>
          <a:xfrm rot="16200000" flipH="1">
            <a:off x="8438192" y="5280721"/>
            <a:ext cx="384831" cy="8452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9" name="矩形: 圆角 148">
            <a:extLst>
              <a:ext uri="{FF2B5EF4-FFF2-40B4-BE49-F238E27FC236}">
                <a16:creationId xmlns:a16="http://schemas.microsoft.com/office/drawing/2014/main" id="{A8576E95-F2EE-7534-2191-3AD4A946EC72}"/>
              </a:ext>
            </a:extLst>
          </p:cNvPr>
          <p:cNvSpPr/>
          <p:nvPr/>
        </p:nvSpPr>
        <p:spPr>
          <a:xfrm>
            <a:off x="7020108" y="6169000"/>
            <a:ext cx="1527678" cy="268310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loss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0" name="连接符: 曲线 149">
            <a:extLst>
              <a:ext uri="{FF2B5EF4-FFF2-40B4-BE49-F238E27FC236}">
                <a16:creationId xmlns:a16="http://schemas.microsoft.com/office/drawing/2014/main" id="{376A7A43-2CCA-4ADA-F7B7-C9739EB9CD55}"/>
              </a:ext>
            </a:extLst>
          </p:cNvPr>
          <p:cNvCxnSpPr>
            <a:cxnSpLocks/>
            <a:stCxn id="142" idx="2"/>
            <a:endCxn id="149" idx="0"/>
          </p:cNvCxnSpPr>
          <p:nvPr/>
        </p:nvCxnSpPr>
        <p:spPr>
          <a:xfrm rot="16200000" flipH="1">
            <a:off x="7151068" y="5536120"/>
            <a:ext cx="423327" cy="842432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1" name="连接符: 曲线 150">
            <a:extLst>
              <a:ext uri="{FF2B5EF4-FFF2-40B4-BE49-F238E27FC236}">
                <a16:creationId xmlns:a16="http://schemas.microsoft.com/office/drawing/2014/main" id="{E11E6758-3ECF-2AE1-AB15-EF2BB83254FD}"/>
              </a:ext>
            </a:extLst>
          </p:cNvPr>
          <p:cNvCxnSpPr>
            <a:cxnSpLocks/>
            <a:stCxn id="147" idx="2"/>
            <a:endCxn id="149" idx="0"/>
          </p:cNvCxnSpPr>
          <p:nvPr/>
        </p:nvCxnSpPr>
        <p:spPr>
          <a:xfrm rot="5400000">
            <a:off x="7997727" y="5531893"/>
            <a:ext cx="423327" cy="850886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2" name="连接符: 曲线 151">
            <a:extLst>
              <a:ext uri="{FF2B5EF4-FFF2-40B4-BE49-F238E27FC236}">
                <a16:creationId xmlns:a16="http://schemas.microsoft.com/office/drawing/2014/main" id="{DC218AD8-71F2-D34C-3CB8-090DFD46C697}"/>
              </a:ext>
            </a:extLst>
          </p:cNvPr>
          <p:cNvCxnSpPr>
            <a:cxnSpLocks/>
            <a:stCxn id="132" idx="2"/>
            <a:endCxn id="155" idx="0"/>
          </p:cNvCxnSpPr>
          <p:nvPr/>
        </p:nvCxnSpPr>
        <p:spPr>
          <a:xfrm rot="5400000">
            <a:off x="8006745" y="3245039"/>
            <a:ext cx="250470" cy="708588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5" name="文本框 154">
            <a:extLst>
              <a:ext uri="{FF2B5EF4-FFF2-40B4-BE49-F238E27FC236}">
                <a16:creationId xmlns:a16="http://schemas.microsoft.com/office/drawing/2014/main" id="{56B341CA-2992-99E6-9879-2209AFD9E8D1}"/>
              </a:ext>
            </a:extLst>
          </p:cNvPr>
          <p:cNvSpPr txBox="1"/>
          <p:nvPr/>
        </p:nvSpPr>
        <p:spPr>
          <a:xfrm>
            <a:off x="7132744" y="3724568"/>
            <a:ext cx="12898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(768)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7" name="连接符: 曲线 156">
            <a:extLst>
              <a:ext uri="{FF2B5EF4-FFF2-40B4-BE49-F238E27FC236}">
                <a16:creationId xmlns:a16="http://schemas.microsoft.com/office/drawing/2014/main" id="{6B5F5971-87A4-3949-D6F0-B9AC0F23A07C}"/>
              </a:ext>
            </a:extLst>
          </p:cNvPr>
          <p:cNvCxnSpPr>
            <a:cxnSpLocks/>
            <a:stCxn id="155" idx="2"/>
            <a:endCxn id="140" idx="0"/>
          </p:cNvCxnSpPr>
          <p:nvPr/>
        </p:nvCxnSpPr>
        <p:spPr>
          <a:xfrm rot="16200000" flipH="1">
            <a:off x="7580065" y="4168410"/>
            <a:ext cx="401505" cy="6262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0" name="文本框 159">
            <a:extLst>
              <a:ext uri="{FF2B5EF4-FFF2-40B4-BE49-F238E27FC236}">
                <a16:creationId xmlns:a16="http://schemas.microsoft.com/office/drawing/2014/main" id="{6269A62B-BEC9-587F-BDDB-CF2F70563804}"/>
              </a:ext>
            </a:extLst>
          </p:cNvPr>
          <p:cNvSpPr txBox="1"/>
          <p:nvPr/>
        </p:nvSpPr>
        <p:spPr>
          <a:xfrm>
            <a:off x="9287645" y="1679209"/>
            <a:ext cx="26842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Neck</a:t>
            </a:r>
            <a:r>
              <a:rPr lang="zh-CN" altLang="en-US" b="1" dirty="0"/>
              <a:t>结构：空间注意力</a:t>
            </a:r>
            <a:r>
              <a:rPr lang="en-US" altLang="zh-CN" b="1" dirty="0"/>
              <a:t>+</a:t>
            </a:r>
            <a:r>
              <a:rPr lang="zh-CN" altLang="en-US" b="1" dirty="0"/>
              <a:t>双路池化</a:t>
            </a:r>
            <a:endParaRPr lang="en-US" altLang="zh-CN" dirty="0"/>
          </a:p>
        </p:txBody>
      </p:sp>
      <p:cxnSp>
        <p:nvCxnSpPr>
          <p:cNvPr id="6" name="连接符: 曲线 5">
            <a:extLst>
              <a:ext uri="{FF2B5EF4-FFF2-40B4-BE49-F238E27FC236}">
                <a16:creationId xmlns:a16="http://schemas.microsoft.com/office/drawing/2014/main" id="{B06B2460-BFE2-BB48-4955-213D2DA7B30B}"/>
              </a:ext>
            </a:extLst>
          </p:cNvPr>
          <p:cNvCxnSpPr>
            <a:cxnSpLocks/>
            <a:stCxn id="44" idx="2"/>
            <a:endCxn id="119" idx="0"/>
          </p:cNvCxnSpPr>
          <p:nvPr/>
        </p:nvCxnSpPr>
        <p:spPr>
          <a:xfrm rot="5400000">
            <a:off x="7512834" y="1685500"/>
            <a:ext cx="359255" cy="1437548"/>
          </a:xfrm>
          <a:prstGeom prst="curvedConnector3">
            <a:avLst/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6534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D3300-8F96-785C-D85A-E66532880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9B68F5FE-6044-BD2F-C527-93BB17034F0A}"/>
              </a:ext>
            </a:extLst>
          </p:cNvPr>
          <p:cNvSpPr/>
          <p:nvPr/>
        </p:nvSpPr>
        <p:spPr>
          <a:xfrm>
            <a:off x="334963" y="1"/>
            <a:ext cx="895768" cy="1132114"/>
          </a:xfrm>
          <a:prstGeom prst="rect">
            <a:avLst/>
          </a:prstGeom>
          <a:solidFill>
            <a:srgbClr val="104BA4"/>
          </a:solidFill>
          <a:ln>
            <a:noFill/>
          </a:ln>
          <a:effectLst>
            <a:outerShdw blurRad="3302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1E07149-97BB-FFDC-7D55-2A69FB1E158E}"/>
              </a:ext>
            </a:extLst>
          </p:cNvPr>
          <p:cNvSpPr txBox="1"/>
          <p:nvPr/>
        </p:nvSpPr>
        <p:spPr>
          <a:xfrm>
            <a:off x="294551" y="284064"/>
            <a:ext cx="976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02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26C1B6A-4830-17D9-9C72-A0C7274DE9DA}"/>
              </a:ext>
            </a:extLst>
          </p:cNvPr>
          <p:cNvSpPr txBox="1"/>
          <p:nvPr/>
        </p:nvSpPr>
        <p:spPr>
          <a:xfrm>
            <a:off x="1388075" y="212563"/>
            <a:ext cx="66406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3200" dirty="0" err="1">
                <a:solidFill>
                  <a:srgbClr val="104BA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PatchScore</a:t>
            </a:r>
            <a:r>
              <a:rPr lang="zh-CN" altLang="en-US" sz="3200" dirty="0">
                <a:solidFill>
                  <a:srgbClr val="104BA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结构：捕捉局部特征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94E70F0A-072E-A45D-A174-C756EC7B19F2}"/>
              </a:ext>
            </a:extLst>
          </p:cNvPr>
          <p:cNvGrpSpPr/>
          <p:nvPr/>
        </p:nvGrpSpPr>
        <p:grpSpPr>
          <a:xfrm>
            <a:off x="9796257" y="238208"/>
            <a:ext cx="1964493" cy="708062"/>
            <a:chOff x="4246274" y="-10895"/>
            <a:chExt cx="3940182" cy="1420161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281B5DC5-C3DB-1EA3-A96B-8749ED64DB31}"/>
                </a:ext>
              </a:extLst>
            </p:cNvPr>
            <p:cNvGrpSpPr/>
            <p:nvPr/>
          </p:nvGrpSpPr>
          <p:grpSpPr>
            <a:xfrm>
              <a:off x="4246274" y="-10895"/>
              <a:ext cx="3940181" cy="1400681"/>
              <a:chOff x="6547903" y="954561"/>
              <a:chExt cx="5069293" cy="1802069"/>
            </a:xfrm>
          </p:grpSpPr>
          <p:pic>
            <p:nvPicPr>
              <p:cNvPr id="21" name="图片 20">
                <a:extLst>
                  <a:ext uri="{FF2B5EF4-FFF2-40B4-BE49-F238E27FC236}">
                    <a16:creationId xmlns:a16="http://schemas.microsoft.com/office/drawing/2014/main" id="{75524548-B38B-00B6-90DF-C8603B8E91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547903" y="985519"/>
                <a:ext cx="1771106" cy="1771111"/>
              </a:xfrm>
              <a:prstGeom prst="rect">
                <a:avLst/>
              </a:prstGeom>
            </p:spPr>
          </p:pic>
          <p:pic>
            <p:nvPicPr>
              <p:cNvPr id="22" name="图片 21">
                <a:extLst>
                  <a:ext uri="{FF2B5EF4-FFF2-40B4-BE49-F238E27FC236}">
                    <a16:creationId xmlns:a16="http://schemas.microsoft.com/office/drawing/2014/main" id="{A21942D7-758C-8183-27BE-CB1C482B46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270228" y="954561"/>
                <a:ext cx="3346968" cy="1271930"/>
              </a:xfrm>
              <a:prstGeom prst="rect">
                <a:avLst/>
              </a:prstGeom>
            </p:spPr>
          </p:pic>
        </p:grp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5636D64A-BEF6-0025-DE2D-41EA333A4381}"/>
                </a:ext>
              </a:extLst>
            </p:cNvPr>
            <p:cNvSpPr/>
            <p:nvPr/>
          </p:nvSpPr>
          <p:spPr>
            <a:xfrm>
              <a:off x="5622894" y="915420"/>
              <a:ext cx="2563562" cy="4938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FUDAN UNIVERSITY</a:t>
              </a: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CCC2892A-6ABA-6A67-21FE-A94FAEBC8257}"/>
              </a:ext>
            </a:extLst>
          </p:cNvPr>
          <p:cNvSpPr txBox="1"/>
          <p:nvPr/>
        </p:nvSpPr>
        <p:spPr>
          <a:xfrm>
            <a:off x="391492" y="1141754"/>
            <a:ext cx="59263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 err="1"/>
              <a:t>PatchScore</a:t>
            </a:r>
            <a:r>
              <a:rPr lang="zh-CN" altLang="en-US" b="1" dirty="0"/>
              <a:t>结构：捕捉局部特征</a:t>
            </a:r>
            <a:endParaRPr lang="en-US" altLang="zh-CN" b="1" dirty="0"/>
          </a:p>
          <a:p>
            <a:r>
              <a:rPr lang="zh-CN" altLang="en-US" b="1" dirty="0"/>
              <a:t>核心逻辑：</a:t>
            </a:r>
            <a:r>
              <a:rPr lang="zh-CN" altLang="en-US" dirty="0"/>
              <a:t>多尺度特征融合</a:t>
            </a:r>
            <a:endParaRPr lang="en-US" altLang="zh-CN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9A6AE8B-3990-E8D2-9328-8FEEA33D96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396" y="1936223"/>
            <a:ext cx="6895004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b="1" dirty="0"/>
              <a:t>1. </a:t>
            </a:r>
            <a:r>
              <a:rPr lang="zh-CN" altLang="en-US" b="1" dirty="0"/>
              <a:t>局部特征生成 </a:t>
            </a:r>
            <a:r>
              <a:rPr lang="en-US" altLang="zh-CN" b="1" dirty="0"/>
              <a:t>(Patch Logits)</a:t>
            </a:r>
          </a:p>
          <a:p>
            <a:r>
              <a:rPr lang="zh-CN" altLang="en-US" dirty="0"/>
              <a:t>在 </a:t>
            </a:r>
            <a:r>
              <a:rPr lang="en-US" altLang="zh-CN" dirty="0"/>
              <a:t>forward </a:t>
            </a:r>
            <a:r>
              <a:rPr lang="zh-CN" altLang="en-US" dirty="0"/>
              <a:t>过程中，</a:t>
            </a:r>
            <a:r>
              <a:rPr lang="en-US" altLang="zh-CN" dirty="0"/>
              <a:t>Stage 3 </a:t>
            </a:r>
            <a:r>
              <a:rPr lang="zh-CN" altLang="en-US" dirty="0"/>
              <a:t>和 </a:t>
            </a:r>
            <a:r>
              <a:rPr lang="en-US" altLang="zh-CN" dirty="0"/>
              <a:t>Stage 4 </a:t>
            </a:r>
            <a:r>
              <a:rPr lang="zh-CN" altLang="en-US" dirty="0"/>
              <a:t>的特征图分别通过了对应的 </a:t>
            </a:r>
            <a:r>
              <a:rPr lang="en-US" altLang="zh-CN" dirty="0" err="1"/>
              <a:t>PatchAnomalyHead</a:t>
            </a:r>
            <a:r>
              <a:rPr lang="zh-CN" altLang="en-US" dirty="0"/>
              <a:t>：</a:t>
            </a:r>
          </a:p>
          <a:p>
            <a:r>
              <a:rPr lang="en-US" altLang="zh-CN" b="1" dirty="0"/>
              <a:t>s3</a:t>
            </a:r>
            <a:r>
              <a:rPr lang="en-US" altLang="zh-CN" dirty="0"/>
              <a:t>: </a:t>
            </a:r>
            <a:r>
              <a:rPr lang="zh-CN" altLang="en-US" dirty="0"/>
              <a:t>特征图尺寸为 </a:t>
            </a:r>
            <a:r>
              <a:rPr lang="en-US" altLang="zh-CN" dirty="0"/>
              <a:t>14×14</a:t>
            </a:r>
            <a:r>
              <a:rPr lang="zh-CN" altLang="en-US" dirty="0"/>
              <a:t>，经过 </a:t>
            </a:r>
            <a:r>
              <a:rPr lang="en-US" altLang="zh-CN" dirty="0"/>
              <a:t>Head </a:t>
            </a:r>
            <a:r>
              <a:rPr lang="zh-CN" altLang="en-US" dirty="0"/>
              <a:t>后输出 </a:t>
            </a:r>
            <a:r>
              <a:rPr lang="en-US" altLang="zh-CN" dirty="0"/>
              <a:t>patch_logits_s3</a:t>
            </a:r>
            <a:r>
              <a:rPr lang="zh-CN" altLang="en-US" dirty="0"/>
              <a:t>，形状为 </a:t>
            </a:r>
            <a:r>
              <a:rPr lang="en-US" altLang="zh-CN" dirty="0"/>
              <a:t>[B,8,14,14]</a:t>
            </a:r>
            <a:r>
              <a:rPr lang="zh-CN" altLang="en-US" dirty="0"/>
              <a:t>。</a:t>
            </a:r>
          </a:p>
          <a:p>
            <a:r>
              <a:rPr lang="en-US" altLang="zh-CN" b="1" dirty="0"/>
              <a:t>s4</a:t>
            </a:r>
            <a:r>
              <a:rPr lang="en-US" altLang="zh-CN" dirty="0"/>
              <a:t>: </a:t>
            </a:r>
            <a:r>
              <a:rPr lang="zh-CN" altLang="en-US" dirty="0"/>
              <a:t>特征图尺寸为 </a:t>
            </a:r>
            <a:r>
              <a:rPr lang="en-US" altLang="zh-CN" dirty="0"/>
              <a:t>7×7</a:t>
            </a:r>
            <a:r>
              <a:rPr lang="zh-CN" altLang="en-US" dirty="0"/>
              <a:t>，输出 </a:t>
            </a:r>
            <a:r>
              <a:rPr lang="en-US" altLang="zh-CN" dirty="0"/>
              <a:t>patch_logits_s4</a:t>
            </a:r>
            <a:r>
              <a:rPr lang="zh-CN" altLang="en-US" dirty="0"/>
              <a:t>，形状为 </a:t>
            </a:r>
            <a:r>
              <a:rPr lang="en-US" altLang="zh-CN" dirty="0"/>
              <a:t>[B,8,7,7]</a:t>
            </a:r>
            <a:r>
              <a:rPr lang="zh-CN" altLang="en-US" dirty="0"/>
              <a:t>。 这意味着在这一步，模型已经对图片中每一个小方块（</a:t>
            </a:r>
            <a:r>
              <a:rPr lang="en-US" altLang="zh-CN" dirty="0"/>
              <a:t>Patch</a:t>
            </a:r>
            <a:r>
              <a:rPr lang="zh-CN" altLang="en-US" dirty="0"/>
              <a:t>）预测了 </a:t>
            </a:r>
            <a:r>
              <a:rPr lang="en-US" altLang="zh-CN" dirty="0"/>
              <a:t>8 </a:t>
            </a:r>
            <a:r>
              <a:rPr lang="zh-CN" altLang="en-US" dirty="0"/>
              <a:t>个异常类别的得分。</a:t>
            </a:r>
            <a:endParaRPr lang="en-US" altLang="zh-CN" dirty="0"/>
          </a:p>
          <a:p>
            <a:r>
              <a:rPr lang="en-US" altLang="zh-CN" b="1" dirty="0"/>
              <a:t>2. </a:t>
            </a:r>
            <a:r>
              <a:rPr lang="zh-CN" altLang="en-US" b="1" dirty="0"/>
              <a:t>数值聚合 </a:t>
            </a:r>
            <a:r>
              <a:rPr lang="en-US" altLang="zh-CN" b="1" dirty="0"/>
              <a:t>(LSE Aggregate)</a:t>
            </a:r>
          </a:p>
          <a:p>
            <a:r>
              <a:rPr lang="zh-CN" altLang="en-US" dirty="0"/>
              <a:t>将整个空间（</a:t>
            </a:r>
            <a:r>
              <a:rPr lang="en-US" altLang="zh-CN" dirty="0"/>
              <a:t>14×14 </a:t>
            </a:r>
            <a:r>
              <a:rPr lang="zh-CN" altLang="en-US" dirty="0"/>
              <a:t>或 </a:t>
            </a:r>
            <a:r>
              <a:rPr lang="en-US" altLang="zh-CN" dirty="0"/>
              <a:t>7×7</a:t>
            </a:r>
            <a:r>
              <a:rPr lang="zh-CN" altLang="en-US" dirty="0"/>
              <a:t>）的所有得分压缩成一个全局得分。</a:t>
            </a:r>
          </a:p>
          <a:p>
            <a:r>
              <a:rPr lang="zh-CN" altLang="en-US" dirty="0"/>
              <a:t>利用</a:t>
            </a:r>
            <a:r>
              <a:rPr lang="en-US" altLang="zh-CN" dirty="0" err="1"/>
              <a:t>lse</a:t>
            </a:r>
            <a:r>
              <a:rPr lang="zh-CN" altLang="en-US" dirty="0"/>
              <a:t>函数聚合，获得一种介于</a:t>
            </a:r>
            <a:r>
              <a:rPr lang="en-US" altLang="zh-CN" dirty="0" err="1"/>
              <a:t>topk</a:t>
            </a:r>
            <a:r>
              <a:rPr lang="zh-CN" altLang="en-US" dirty="0"/>
              <a:t>和</a:t>
            </a:r>
            <a:r>
              <a:rPr lang="en-US" altLang="zh-CN" dirty="0"/>
              <a:t>global avg</a:t>
            </a:r>
            <a:r>
              <a:rPr lang="zh-CN" altLang="en-US" dirty="0"/>
              <a:t>之间的特征提取</a:t>
            </a:r>
            <a:endParaRPr lang="en-US" altLang="zh-CN" dirty="0"/>
          </a:p>
          <a:p>
            <a:r>
              <a:rPr lang="en-US" altLang="zh-CN" b="1" dirty="0"/>
              <a:t>3. </a:t>
            </a:r>
            <a:r>
              <a:rPr lang="zh-CN" altLang="en-US" b="1" dirty="0"/>
              <a:t>类别线性映射 </a:t>
            </a:r>
            <a:r>
              <a:rPr lang="en-US" altLang="zh-CN" b="1" dirty="0"/>
              <a:t>(Linear Projection)</a:t>
            </a:r>
            <a:endParaRPr lang="en-US" altLang="zh-CN" dirty="0"/>
          </a:p>
          <a:p>
            <a:r>
              <a:rPr lang="zh-CN" altLang="en-US" dirty="0"/>
              <a:t>聚合后的 </a:t>
            </a:r>
            <a:r>
              <a:rPr lang="en-US" altLang="zh-CN" dirty="0" err="1"/>
              <a:t>patch_score</a:t>
            </a:r>
            <a:r>
              <a:rPr lang="en-US" altLang="zh-CN" dirty="0"/>
              <a:t> </a:t>
            </a:r>
            <a:r>
              <a:rPr lang="zh-CN" altLang="en-US" dirty="0"/>
              <a:t>形状为 </a:t>
            </a:r>
            <a:r>
              <a:rPr lang="en-US" altLang="zh-CN" dirty="0"/>
              <a:t>[B,8]</a:t>
            </a:r>
            <a:r>
              <a:rPr lang="zh-CN" altLang="en-US" dirty="0"/>
              <a:t>，代表了 </a:t>
            </a:r>
            <a:r>
              <a:rPr lang="en-US" altLang="zh-CN" dirty="0"/>
              <a:t>8 </a:t>
            </a:r>
            <a:r>
              <a:rPr lang="zh-CN" altLang="en-US" dirty="0"/>
              <a:t>个类别的局部综合得分。随后对 </a:t>
            </a:r>
            <a:r>
              <a:rPr lang="en-US" altLang="zh-CN" dirty="0"/>
              <a:t>8 </a:t>
            </a:r>
            <a:r>
              <a:rPr lang="zh-CN" altLang="en-US" dirty="0"/>
              <a:t>个类别的得分进行最终的线性加权调整。它允许模型学习不同类别之间的关联。</a:t>
            </a:r>
          </a:p>
        </p:txBody>
      </p:sp>
    </p:spTree>
    <p:extLst>
      <p:ext uri="{BB962C8B-B14F-4D97-AF65-F5344CB8AC3E}">
        <p14:creationId xmlns:p14="http://schemas.microsoft.com/office/powerpoint/2010/main" val="1849566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E3BBF-6020-2801-8567-9F225F88B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8CB8F696-D722-6536-F21B-D9745E40C840}"/>
              </a:ext>
            </a:extLst>
          </p:cNvPr>
          <p:cNvSpPr/>
          <p:nvPr/>
        </p:nvSpPr>
        <p:spPr>
          <a:xfrm>
            <a:off x="334963" y="1"/>
            <a:ext cx="895768" cy="1132114"/>
          </a:xfrm>
          <a:prstGeom prst="rect">
            <a:avLst/>
          </a:prstGeom>
          <a:solidFill>
            <a:srgbClr val="104BA4"/>
          </a:solidFill>
          <a:ln>
            <a:noFill/>
          </a:ln>
          <a:effectLst>
            <a:outerShdw blurRad="3302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8F8E8F3-37C0-70DC-EDBE-768B693DC8DD}"/>
              </a:ext>
            </a:extLst>
          </p:cNvPr>
          <p:cNvSpPr txBox="1"/>
          <p:nvPr/>
        </p:nvSpPr>
        <p:spPr>
          <a:xfrm>
            <a:off x="294551" y="284064"/>
            <a:ext cx="976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</a:t>
            </a:r>
            <a:r>
              <a:rPr lang="en-US" altLang="zh-CN" sz="36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324F4A6-907A-B2D5-0354-3D049DE10BE2}"/>
              </a:ext>
            </a:extLst>
          </p:cNvPr>
          <p:cNvSpPr txBox="1"/>
          <p:nvPr/>
        </p:nvSpPr>
        <p:spPr>
          <a:xfrm>
            <a:off x="1272614" y="193527"/>
            <a:ext cx="64911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3200" dirty="0" err="1">
                <a:solidFill>
                  <a:srgbClr val="104BA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PatchScore</a:t>
            </a:r>
            <a:r>
              <a:rPr lang="zh-CN" altLang="en-US" sz="3200" dirty="0">
                <a:solidFill>
                  <a:srgbClr val="104BA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结构：捕捉局部特征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9835A2BB-B173-90F1-6954-556712C2909B}"/>
              </a:ext>
            </a:extLst>
          </p:cNvPr>
          <p:cNvGrpSpPr/>
          <p:nvPr/>
        </p:nvGrpSpPr>
        <p:grpSpPr>
          <a:xfrm>
            <a:off x="9796257" y="238208"/>
            <a:ext cx="1964493" cy="708062"/>
            <a:chOff x="4246274" y="-10895"/>
            <a:chExt cx="3940182" cy="1420161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C8BC4C3B-4A06-FE6F-C25C-32FF5FADC8B5}"/>
                </a:ext>
              </a:extLst>
            </p:cNvPr>
            <p:cNvGrpSpPr/>
            <p:nvPr/>
          </p:nvGrpSpPr>
          <p:grpSpPr>
            <a:xfrm>
              <a:off x="4246274" y="-10895"/>
              <a:ext cx="3940181" cy="1400681"/>
              <a:chOff x="6547903" y="954561"/>
              <a:chExt cx="5069293" cy="1802069"/>
            </a:xfrm>
          </p:grpSpPr>
          <p:pic>
            <p:nvPicPr>
              <p:cNvPr id="21" name="图片 20">
                <a:extLst>
                  <a:ext uri="{FF2B5EF4-FFF2-40B4-BE49-F238E27FC236}">
                    <a16:creationId xmlns:a16="http://schemas.microsoft.com/office/drawing/2014/main" id="{CAC928FB-BAA5-EE0F-54DA-612987E601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547903" y="985519"/>
                <a:ext cx="1771106" cy="1771111"/>
              </a:xfrm>
              <a:prstGeom prst="rect">
                <a:avLst/>
              </a:prstGeom>
            </p:spPr>
          </p:pic>
          <p:pic>
            <p:nvPicPr>
              <p:cNvPr id="22" name="图片 21">
                <a:extLst>
                  <a:ext uri="{FF2B5EF4-FFF2-40B4-BE49-F238E27FC236}">
                    <a16:creationId xmlns:a16="http://schemas.microsoft.com/office/drawing/2014/main" id="{ED55C9CE-DC4A-4237-6AA4-B6AF2F512F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270228" y="954561"/>
                <a:ext cx="3346968" cy="1271930"/>
              </a:xfrm>
              <a:prstGeom prst="rect">
                <a:avLst/>
              </a:prstGeom>
            </p:spPr>
          </p:pic>
        </p:grp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9354C2DD-8BD3-2C61-897A-517FC03078CE}"/>
                </a:ext>
              </a:extLst>
            </p:cNvPr>
            <p:cNvSpPr/>
            <p:nvPr/>
          </p:nvSpPr>
          <p:spPr>
            <a:xfrm>
              <a:off x="5622894" y="915420"/>
              <a:ext cx="2563562" cy="4938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FUDAN UNIVERSITY</a:t>
              </a:r>
            </a:p>
          </p:txBody>
        </p:sp>
      </p:grp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A36B2778-EA7B-3D63-B6AA-8D876745F98B}"/>
              </a:ext>
            </a:extLst>
          </p:cNvPr>
          <p:cNvSpPr/>
          <p:nvPr/>
        </p:nvSpPr>
        <p:spPr>
          <a:xfrm>
            <a:off x="118918" y="1416178"/>
            <a:ext cx="3468312" cy="2413000"/>
          </a:xfrm>
          <a:prstGeom prst="roundRect">
            <a:avLst/>
          </a:prstGeom>
          <a:noFill/>
          <a:ln w="25400">
            <a:solidFill>
              <a:srgbClr val="F6AC8D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03A771CE-4492-698A-AB07-C246029EA486}"/>
              </a:ext>
            </a:extLst>
          </p:cNvPr>
          <p:cNvSpPr/>
          <p:nvPr/>
        </p:nvSpPr>
        <p:spPr>
          <a:xfrm>
            <a:off x="200593" y="1650964"/>
            <a:ext cx="3212545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A797848D-66A1-7DAA-9AA9-DD2E836E47E4}"/>
              </a:ext>
            </a:extLst>
          </p:cNvPr>
          <p:cNvSpPr/>
          <p:nvPr/>
        </p:nvSpPr>
        <p:spPr>
          <a:xfrm>
            <a:off x="200594" y="2179839"/>
            <a:ext cx="1527678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AA182A1C-4F7C-DEBF-B937-25C9C7E4EBDB}"/>
              </a:ext>
            </a:extLst>
          </p:cNvPr>
          <p:cNvSpPr/>
          <p:nvPr/>
        </p:nvSpPr>
        <p:spPr>
          <a:xfrm>
            <a:off x="200594" y="2756033"/>
            <a:ext cx="1527678" cy="268310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multilabel logits</a:t>
            </a:r>
          </a:p>
          <a:p>
            <a:pPr algn="ctr"/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类）</a:t>
            </a:r>
          </a:p>
        </p:txBody>
      </p:sp>
      <p:cxnSp>
        <p:nvCxnSpPr>
          <p:cNvPr id="75" name="连接符: 曲线 74">
            <a:extLst>
              <a:ext uri="{FF2B5EF4-FFF2-40B4-BE49-F238E27FC236}">
                <a16:creationId xmlns:a16="http://schemas.microsoft.com/office/drawing/2014/main" id="{45918D56-721B-5134-CB62-95B75F4CAC67}"/>
              </a:ext>
            </a:extLst>
          </p:cNvPr>
          <p:cNvCxnSpPr>
            <a:cxnSpLocks/>
            <a:stCxn id="72" idx="2"/>
          </p:cNvCxnSpPr>
          <p:nvPr/>
        </p:nvCxnSpPr>
        <p:spPr>
          <a:xfrm rot="5400000">
            <a:off x="1211458" y="1551287"/>
            <a:ext cx="304367" cy="886451"/>
          </a:xfrm>
          <a:prstGeom prst="curvedConnector2">
            <a:avLst/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连接符: 曲线 75">
            <a:extLst>
              <a:ext uri="{FF2B5EF4-FFF2-40B4-BE49-F238E27FC236}">
                <a16:creationId xmlns:a16="http://schemas.microsoft.com/office/drawing/2014/main" id="{94849717-F287-82F2-CD88-5085A7E41A3C}"/>
              </a:ext>
            </a:extLst>
          </p:cNvPr>
          <p:cNvCxnSpPr>
            <a:cxnSpLocks/>
            <a:stCxn id="73" idx="2"/>
            <a:endCxn id="74" idx="0"/>
          </p:cNvCxnSpPr>
          <p:nvPr/>
        </p:nvCxnSpPr>
        <p:spPr>
          <a:xfrm rot="5400000">
            <a:off x="772019" y="2563618"/>
            <a:ext cx="384829" cy="12700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FC0CD4FF-8954-E21D-97AC-A6DDE7A29D50}"/>
              </a:ext>
            </a:extLst>
          </p:cNvPr>
          <p:cNvSpPr/>
          <p:nvPr/>
        </p:nvSpPr>
        <p:spPr>
          <a:xfrm>
            <a:off x="1885460" y="2179837"/>
            <a:ext cx="1527678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8" name="连接符: 曲线 77">
            <a:extLst>
              <a:ext uri="{FF2B5EF4-FFF2-40B4-BE49-F238E27FC236}">
                <a16:creationId xmlns:a16="http://schemas.microsoft.com/office/drawing/2014/main" id="{C7E18884-A208-D357-065A-6E908624D776}"/>
              </a:ext>
            </a:extLst>
          </p:cNvPr>
          <p:cNvCxnSpPr>
            <a:cxnSpLocks/>
            <a:stCxn id="72" idx="2"/>
            <a:endCxn id="77" idx="0"/>
          </p:cNvCxnSpPr>
          <p:nvPr/>
        </p:nvCxnSpPr>
        <p:spPr>
          <a:xfrm rot="16200000" flipH="1">
            <a:off x="2059328" y="1589866"/>
            <a:ext cx="337508" cy="842433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8661A3E1-9586-9540-1BC1-AC56DFC66E9C}"/>
              </a:ext>
            </a:extLst>
          </p:cNvPr>
          <p:cNvSpPr/>
          <p:nvPr/>
        </p:nvSpPr>
        <p:spPr>
          <a:xfrm>
            <a:off x="1893912" y="2756033"/>
            <a:ext cx="1527678" cy="268310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Binarylabel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logits</a:t>
            </a:r>
          </a:p>
          <a:p>
            <a:pPr algn="ctr"/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类）</a:t>
            </a:r>
          </a:p>
        </p:txBody>
      </p:sp>
      <p:cxnSp>
        <p:nvCxnSpPr>
          <p:cNvPr id="80" name="连接符: 曲线 79">
            <a:extLst>
              <a:ext uri="{FF2B5EF4-FFF2-40B4-BE49-F238E27FC236}">
                <a16:creationId xmlns:a16="http://schemas.microsoft.com/office/drawing/2014/main" id="{37503BFE-ADFD-748C-A7EA-14A9C711D1C1}"/>
              </a:ext>
            </a:extLst>
          </p:cNvPr>
          <p:cNvCxnSpPr>
            <a:cxnSpLocks/>
            <a:stCxn id="77" idx="2"/>
            <a:endCxn id="79" idx="0"/>
          </p:cNvCxnSpPr>
          <p:nvPr/>
        </p:nvCxnSpPr>
        <p:spPr>
          <a:xfrm rot="16200000" flipH="1">
            <a:off x="2461110" y="2559391"/>
            <a:ext cx="384831" cy="8452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" name="矩形: 圆角 80">
            <a:extLst>
              <a:ext uri="{FF2B5EF4-FFF2-40B4-BE49-F238E27FC236}">
                <a16:creationId xmlns:a16="http://schemas.microsoft.com/office/drawing/2014/main" id="{CD361A96-5E0C-45A3-BFC9-C48618F738B8}"/>
              </a:ext>
            </a:extLst>
          </p:cNvPr>
          <p:cNvSpPr/>
          <p:nvPr/>
        </p:nvSpPr>
        <p:spPr>
          <a:xfrm>
            <a:off x="1043026" y="3447670"/>
            <a:ext cx="1527678" cy="268310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loss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2" name="连接符: 曲线 81">
            <a:extLst>
              <a:ext uri="{FF2B5EF4-FFF2-40B4-BE49-F238E27FC236}">
                <a16:creationId xmlns:a16="http://schemas.microsoft.com/office/drawing/2014/main" id="{6225CA88-5C33-0BDA-33DC-1093ACCF9F6F}"/>
              </a:ext>
            </a:extLst>
          </p:cNvPr>
          <p:cNvCxnSpPr>
            <a:cxnSpLocks/>
            <a:stCxn id="74" idx="2"/>
            <a:endCxn id="81" idx="0"/>
          </p:cNvCxnSpPr>
          <p:nvPr/>
        </p:nvCxnSpPr>
        <p:spPr>
          <a:xfrm rot="16200000" flipH="1">
            <a:off x="1173986" y="2814790"/>
            <a:ext cx="423327" cy="842432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连接符: 曲线 82">
            <a:extLst>
              <a:ext uri="{FF2B5EF4-FFF2-40B4-BE49-F238E27FC236}">
                <a16:creationId xmlns:a16="http://schemas.microsoft.com/office/drawing/2014/main" id="{5C8856FA-AD71-763B-D455-89EDDA929607}"/>
              </a:ext>
            </a:extLst>
          </p:cNvPr>
          <p:cNvCxnSpPr>
            <a:cxnSpLocks/>
            <a:stCxn id="79" idx="2"/>
            <a:endCxn id="81" idx="0"/>
          </p:cNvCxnSpPr>
          <p:nvPr/>
        </p:nvCxnSpPr>
        <p:spPr>
          <a:xfrm rot="5400000">
            <a:off x="2020645" y="2810563"/>
            <a:ext cx="423327" cy="850886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连接符: 曲线 86">
            <a:extLst>
              <a:ext uri="{FF2B5EF4-FFF2-40B4-BE49-F238E27FC236}">
                <a16:creationId xmlns:a16="http://schemas.microsoft.com/office/drawing/2014/main" id="{E8D82C80-B590-482F-1AC8-485BCDAD46A0}"/>
              </a:ext>
            </a:extLst>
          </p:cNvPr>
          <p:cNvCxnSpPr>
            <a:cxnSpLocks/>
            <a:endCxn id="72" idx="0"/>
          </p:cNvCxnSpPr>
          <p:nvPr/>
        </p:nvCxnSpPr>
        <p:spPr>
          <a:xfrm rot="16200000" flipH="1">
            <a:off x="1561488" y="1405585"/>
            <a:ext cx="484227" cy="6530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9" name="矩形: 圆角 138">
            <a:extLst>
              <a:ext uri="{FF2B5EF4-FFF2-40B4-BE49-F238E27FC236}">
                <a16:creationId xmlns:a16="http://schemas.microsoft.com/office/drawing/2014/main" id="{5184C6EB-5412-16BF-4703-B30989B9DE53}"/>
              </a:ext>
            </a:extLst>
          </p:cNvPr>
          <p:cNvSpPr/>
          <p:nvPr/>
        </p:nvSpPr>
        <p:spPr>
          <a:xfrm>
            <a:off x="4730549" y="4240695"/>
            <a:ext cx="6869619" cy="2413000"/>
          </a:xfrm>
          <a:prstGeom prst="roundRect">
            <a:avLst/>
          </a:prstGeom>
          <a:noFill/>
          <a:ln w="25400">
            <a:solidFill>
              <a:srgbClr val="F6AC8D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矩形: 圆角 139">
            <a:extLst>
              <a:ext uri="{FF2B5EF4-FFF2-40B4-BE49-F238E27FC236}">
                <a16:creationId xmlns:a16="http://schemas.microsoft.com/office/drawing/2014/main" id="{73B094A1-AE9F-D84B-99D5-5141AB0D8226}"/>
              </a:ext>
            </a:extLst>
          </p:cNvPr>
          <p:cNvSpPr/>
          <p:nvPr/>
        </p:nvSpPr>
        <p:spPr>
          <a:xfrm>
            <a:off x="4812225" y="4475481"/>
            <a:ext cx="3212545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矩形: 圆角 140">
            <a:extLst>
              <a:ext uri="{FF2B5EF4-FFF2-40B4-BE49-F238E27FC236}">
                <a16:creationId xmlns:a16="http://schemas.microsoft.com/office/drawing/2014/main" id="{71E21351-55FC-5B07-022B-6D7A50846364}"/>
              </a:ext>
            </a:extLst>
          </p:cNvPr>
          <p:cNvSpPr/>
          <p:nvPr/>
        </p:nvSpPr>
        <p:spPr>
          <a:xfrm>
            <a:off x="4812226" y="5004356"/>
            <a:ext cx="1527678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矩形: 圆角 141">
            <a:extLst>
              <a:ext uri="{FF2B5EF4-FFF2-40B4-BE49-F238E27FC236}">
                <a16:creationId xmlns:a16="http://schemas.microsoft.com/office/drawing/2014/main" id="{19AA0D47-64AE-CA58-C2DB-73CAB5180480}"/>
              </a:ext>
            </a:extLst>
          </p:cNvPr>
          <p:cNvSpPr/>
          <p:nvPr/>
        </p:nvSpPr>
        <p:spPr>
          <a:xfrm>
            <a:off x="4812226" y="5580550"/>
            <a:ext cx="1527678" cy="268310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multilabel logits</a:t>
            </a:r>
          </a:p>
          <a:p>
            <a:pPr algn="ctr"/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类）</a:t>
            </a:r>
          </a:p>
        </p:txBody>
      </p:sp>
      <p:cxnSp>
        <p:nvCxnSpPr>
          <p:cNvPr id="143" name="连接符: 曲线 142">
            <a:extLst>
              <a:ext uri="{FF2B5EF4-FFF2-40B4-BE49-F238E27FC236}">
                <a16:creationId xmlns:a16="http://schemas.microsoft.com/office/drawing/2014/main" id="{A62D7422-6DCB-6D34-7889-2F7CDB5272C6}"/>
              </a:ext>
            </a:extLst>
          </p:cNvPr>
          <p:cNvCxnSpPr>
            <a:cxnSpLocks/>
            <a:stCxn id="140" idx="2"/>
          </p:cNvCxnSpPr>
          <p:nvPr/>
        </p:nvCxnSpPr>
        <p:spPr>
          <a:xfrm rot="5400000">
            <a:off x="5823090" y="4375804"/>
            <a:ext cx="304367" cy="886451"/>
          </a:xfrm>
          <a:prstGeom prst="curvedConnector2">
            <a:avLst/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4" name="连接符: 曲线 143">
            <a:extLst>
              <a:ext uri="{FF2B5EF4-FFF2-40B4-BE49-F238E27FC236}">
                <a16:creationId xmlns:a16="http://schemas.microsoft.com/office/drawing/2014/main" id="{CAD3F88B-B8CF-4692-9564-267CFE1AA992}"/>
              </a:ext>
            </a:extLst>
          </p:cNvPr>
          <p:cNvCxnSpPr>
            <a:cxnSpLocks/>
            <a:stCxn id="141" idx="2"/>
            <a:endCxn id="142" idx="0"/>
          </p:cNvCxnSpPr>
          <p:nvPr/>
        </p:nvCxnSpPr>
        <p:spPr>
          <a:xfrm rot="5400000">
            <a:off x="5383651" y="5388135"/>
            <a:ext cx="384829" cy="12700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5" name="矩形: 圆角 144">
            <a:extLst>
              <a:ext uri="{FF2B5EF4-FFF2-40B4-BE49-F238E27FC236}">
                <a16:creationId xmlns:a16="http://schemas.microsoft.com/office/drawing/2014/main" id="{BB41DC5F-73C7-2060-3990-7F453A700A93}"/>
              </a:ext>
            </a:extLst>
          </p:cNvPr>
          <p:cNvSpPr/>
          <p:nvPr/>
        </p:nvSpPr>
        <p:spPr>
          <a:xfrm>
            <a:off x="6497092" y="5004354"/>
            <a:ext cx="1527678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6" name="连接符: 曲线 145">
            <a:extLst>
              <a:ext uri="{FF2B5EF4-FFF2-40B4-BE49-F238E27FC236}">
                <a16:creationId xmlns:a16="http://schemas.microsoft.com/office/drawing/2014/main" id="{1679F028-4165-8203-7837-B9924D144FCD}"/>
              </a:ext>
            </a:extLst>
          </p:cNvPr>
          <p:cNvCxnSpPr>
            <a:cxnSpLocks/>
            <a:stCxn id="140" idx="2"/>
            <a:endCxn id="145" idx="0"/>
          </p:cNvCxnSpPr>
          <p:nvPr/>
        </p:nvCxnSpPr>
        <p:spPr>
          <a:xfrm rot="16200000" flipH="1">
            <a:off x="6670960" y="4414383"/>
            <a:ext cx="337508" cy="842433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7" name="矩形: 圆角 146">
            <a:extLst>
              <a:ext uri="{FF2B5EF4-FFF2-40B4-BE49-F238E27FC236}">
                <a16:creationId xmlns:a16="http://schemas.microsoft.com/office/drawing/2014/main" id="{57B4CF66-4EBA-E68B-B70F-8B30574C95F3}"/>
              </a:ext>
            </a:extLst>
          </p:cNvPr>
          <p:cNvSpPr/>
          <p:nvPr/>
        </p:nvSpPr>
        <p:spPr>
          <a:xfrm>
            <a:off x="6505544" y="5580550"/>
            <a:ext cx="1527678" cy="268310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Binarylabel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logits</a:t>
            </a:r>
          </a:p>
          <a:p>
            <a:pPr algn="ctr"/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类）</a:t>
            </a:r>
          </a:p>
        </p:txBody>
      </p:sp>
      <p:cxnSp>
        <p:nvCxnSpPr>
          <p:cNvPr id="148" name="连接符: 曲线 147">
            <a:extLst>
              <a:ext uri="{FF2B5EF4-FFF2-40B4-BE49-F238E27FC236}">
                <a16:creationId xmlns:a16="http://schemas.microsoft.com/office/drawing/2014/main" id="{F08D3F59-F870-C050-7B14-C13DBE5AF1DE}"/>
              </a:ext>
            </a:extLst>
          </p:cNvPr>
          <p:cNvCxnSpPr>
            <a:cxnSpLocks/>
            <a:stCxn id="145" idx="2"/>
            <a:endCxn id="147" idx="0"/>
          </p:cNvCxnSpPr>
          <p:nvPr/>
        </p:nvCxnSpPr>
        <p:spPr>
          <a:xfrm rot="16200000" flipH="1">
            <a:off x="7072742" y="5383908"/>
            <a:ext cx="384831" cy="8452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9" name="矩形: 圆角 148">
            <a:extLst>
              <a:ext uri="{FF2B5EF4-FFF2-40B4-BE49-F238E27FC236}">
                <a16:creationId xmlns:a16="http://schemas.microsoft.com/office/drawing/2014/main" id="{DD6B8272-8E9B-1842-A7C9-CC49B0DC7DEA}"/>
              </a:ext>
            </a:extLst>
          </p:cNvPr>
          <p:cNvSpPr/>
          <p:nvPr/>
        </p:nvSpPr>
        <p:spPr>
          <a:xfrm>
            <a:off x="7155422" y="6199912"/>
            <a:ext cx="1527678" cy="268310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loss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0" name="连接符: 曲线 149">
            <a:extLst>
              <a:ext uri="{FF2B5EF4-FFF2-40B4-BE49-F238E27FC236}">
                <a16:creationId xmlns:a16="http://schemas.microsoft.com/office/drawing/2014/main" id="{320BF970-559C-4CE6-7E62-184112DF03FE}"/>
              </a:ext>
            </a:extLst>
          </p:cNvPr>
          <p:cNvCxnSpPr>
            <a:cxnSpLocks/>
            <a:stCxn id="142" idx="2"/>
            <a:endCxn id="149" idx="0"/>
          </p:cNvCxnSpPr>
          <p:nvPr/>
        </p:nvCxnSpPr>
        <p:spPr>
          <a:xfrm rot="16200000" flipH="1">
            <a:off x="6572137" y="4852788"/>
            <a:ext cx="351052" cy="2343196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1" name="连接符: 曲线 150">
            <a:extLst>
              <a:ext uri="{FF2B5EF4-FFF2-40B4-BE49-F238E27FC236}">
                <a16:creationId xmlns:a16="http://schemas.microsoft.com/office/drawing/2014/main" id="{E6A7BD50-A227-8330-DD5E-D309CEF6C7B7}"/>
              </a:ext>
            </a:extLst>
          </p:cNvPr>
          <p:cNvCxnSpPr>
            <a:cxnSpLocks/>
            <a:stCxn id="147" idx="2"/>
            <a:endCxn id="149" idx="0"/>
          </p:cNvCxnSpPr>
          <p:nvPr/>
        </p:nvCxnSpPr>
        <p:spPr>
          <a:xfrm rot="16200000" flipH="1">
            <a:off x="7418796" y="5699447"/>
            <a:ext cx="351052" cy="649878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7" name="连接符: 曲线 156">
            <a:extLst>
              <a:ext uri="{FF2B5EF4-FFF2-40B4-BE49-F238E27FC236}">
                <a16:creationId xmlns:a16="http://schemas.microsoft.com/office/drawing/2014/main" id="{67DE7FE6-1155-6439-26D7-9A5C1937B7F8}"/>
              </a:ext>
            </a:extLst>
          </p:cNvPr>
          <p:cNvCxnSpPr>
            <a:cxnSpLocks/>
            <a:endCxn id="140" idx="0"/>
          </p:cNvCxnSpPr>
          <p:nvPr/>
        </p:nvCxnSpPr>
        <p:spPr>
          <a:xfrm rot="16200000" flipH="1">
            <a:off x="6214615" y="4271597"/>
            <a:ext cx="401505" cy="6262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箭头: 下 5">
            <a:extLst>
              <a:ext uri="{FF2B5EF4-FFF2-40B4-BE49-F238E27FC236}">
                <a16:creationId xmlns:a16="http://schemas.microsoft.com/office/drawing/2014/main" id="{62858298-0224-CF55-9A24-273909DB8C73}"/>
              </a:ext>
            </a:extLst>
          </p:cNvPr>
          <p:cNvSpPr/>
          <p:nvPr/>
        </p:nvSpPr>
        <p:spPr>
          <a:xfrm rot="16200000">
            <a:off x="3820933" y="2486864"/>
            <a:ext cx="229925" cy="424901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5A7E606-7EB1-AD10-BC86-AD22CB4E2A43}"/>
              </a:ext>
            </a:extLst>
          </p:cNvPr>
          <p:cNvSpPr/>
          <p:nvPr/>
        </p:nvSpPr>
        <p:spPr>
          <a:xfrm>
            <a:off x="8198862" y="5575127"/>
            <a:ext cx="1527678" cy="268310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Stage3 Patch Score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2C318F2-3FFA-B2FC-F4FD-5195515987DD}"/>
              </a:ext>
            </a:extLst>
          </p:cNvPr>
          <p:cNvSpPr/>
          <p:nvPr/>
        </p:nvSpPr>
        <p:spPr>
          <a:xfrm>
            <a:off x="9899515" y="5575127"/>
            <a:ext cx="1527678" cy="268310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Stage4 Patch Score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160C62B-E07B-7ACF-CF27-0BD97B3908D2}"/>
              </a:ext>
            </a:extLst>
          </p:cNvPr>
          <p:cNvSpPr/>
          <p:nvPr/>
        </p:nvSpPr>
        <p:spPr>
          <a:xfrm>
            <a:off x="8024770" y="1147868"/>
            <a:ext cx="1527678" cy="268310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Stage3 Feature Map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384, 14, 14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9D9C628C-753E-A860-1B74-956172204D88}"/>
              </a:ext>
            </a:extLst>
          </p:cNvPr>
          <p:cNvSpPr/>
          <p:nvPr/>
        </p:nvSpPr>
        <p:spPr>
          <a:xfrm>
            <a:off x="10139433" y="1147868"/>
            <a:ext cx="1527678" cy="268310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Stage4 Feature Map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768, 7, 7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DDEA38AC-041F-0ABA-9880-72690B32628B}"/>
              </a:ext>
            </a:extLst>
          </p:cNvPr>
          <p:cNvSpPr/>
          <p:nvPr/>
        </p:nvSpPr>
        <p:spPr>
          <a:xfrm>
            <a:off x="222494" y="4235322"/>
            <a:ext cx="3468312" cy="2413000"/>
          </a:xfrm>
          <a:prstGeom prst="roundRect">
            <a:avLst/>
          </a:prstGeom>
          <a:noFill/>
          <a:ln w="25400">
            <a:solidFill>
              <a:srgbClr val="F6AC8D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99420CDE-09F8-658B-D1FE-A33AB93607B9}"/>
              </a:ext>
            </a:extLst>
          </p:cNvPr>
          <p:cNvSpPr/>
          <p:nvPr/>
        </p:nvSpPr>
        <p:spPr>
          <a:xfrm>
            <a:off x="304169" y="4470108"/>
            <a:ext cx="3212545" cy="191365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C,H,W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cxnSp>
        <p:nvCxnSpPr>
          <p:cNvPr id="28" name="连接符: 曲线 27">
            <a:extLst>
              <a:ext uri="{FF2B5EF4-FFF2-40B4-BE49-F238E27FC236}">
                <a16:creationId xmlns:a16="http://schemas.microsoft.com/office/drawing/2014/main" id="{12B5AF37-8ACC-D1DC-89DB-A253B39B7D6C}"/>
              </a:ext>
            </a:extLst>
          </p:cNvPr>
          <p:cNvCxnSpPr>
            <a:cxnSpLocks/>
            <a:stCxn id="25" idx="2"/>
            <a:endCxn id="54" idx="0"/>
          </p:cNvCxnSpPr>
          <p:nvPr/>
        </p:nvCxnSpPr>
        <p:spPr>
          <a:xfrm rot="5400000">
            <a:off x="1801176" y="4750519"/>
            <a:ext cx="198313" cy="20221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连接符: 曲线 28">
            <a:extLst>
              <a:ext uri="{FF2B5EF4-FFF2-40B4-BE49-F238E27FC236}">
                <a16:creationId xmlns:a16="http://schemas.microsoft.com/office/drawing/2014/main" id="{1CF2C2E3-8D9B-F314-3B42-12FE75E7D422}"/>
              </a:ext>
            </a:extLst>
          </p:cNvPr>
          <p:cNvCxnSpPr>
            <a:cxnSpLocks/>
            <a:stCxn id="54" idx="2"/>
            <a:endCxn id="59" idx="0"/>
          </p:cNvCxnSpPr>
          <p:nvPr/>
        </p:nvCxnSpPr>
        <p:spPr>
          <a:xfrm rot="5400000">
            <a:off x="1813590" y="5278701"/>
            <a:ext cx="153262" cy="12700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连接符: 曲线 36">
            <a:extLst>
              <a:ext uri="{FF2B5EF4-FFF2-40B4-BE49-F238E27FC236}">
                <a16:creationId xmlns:a16="http://schemas.microsoft.com/office/drawing/2014/main" id="{643F53F2-BD80-9482-CF74-B5850E9E76F3}"/>
              </a:ext>
            </a:extLst>
          </p:cNvPr>
          <p:cNvCxnSpPr>
            <a:cxnSpLocks/>
            <a:stCxn id="59" idx="2"/>
            <a:endCxn id="62" idx="0"/>
          </p:cNvCxnSpPr>
          <p:nvPr/>
        </p:nvCxnSpPr>
        <p:spPr>
          <a:xfrm rot="16200000" flipH="1">
            <a:off x="1812104" y="5775733"/>
            <a:ext cx="162585" cy="6350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9C4450B7-7A35-D147-58C2-D4B97945534A}"/>
              </a:ext>
            </a:extLst>
          </p:cNvPr>
          <p:cNvSpPr/>
          <p:nvPr/>
        </p:nvSpPr>
        <p:spPr>
          <a:xfrm>
            <a:off x="920416" y="4093960"/>
            <a:ext cx="2089313" cy="282901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Patch Anomaly Head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2A225392-0C0F-1590-BF13-9E1182F14641}"/>
              </a:ext>
            </a:extLst>
          </p:cNvPr>
          <p:cNvSpPr/>
          <p:nvPr/>
        </p:nvSpPr>
        <p:spPr>
          <a:xfrm>
            <a:off x="1245280" y="4859786"/>
            <a:ext cx="1289882" cy="34228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 3*3, C/2 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3B77584D-D4C4-ABC4-DF93-6D6ADAD740B3}"/>
              </a:ext>
            </a:extLst>
          </p:cNvPr>
          <p:cNvSpPr/>
          <p:nvPr/>
        </p:nvSpPr>
        <p:spPr>
          <a:xfrm>
            <a:off x="1245280" y="5355332"/>
            <a:ext cx="1289882" cy="34228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Gelu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A9F2579B-ADFE-8A40-DA4C-08EDAD353EFA}"/>
              </a:ext>
            </a:extLst>
          </p:cNvPr>
          <p:cNvSpPr/>
          <p:nvPr/>
        </p:nvSpPr>
        <p:spPr>
          <a:xfrm>
            <a:off x="1251630" y="5860201"/>
            <a:ext cx="1289882" cy="34228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 1*1, CLASS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7" name="连接符: 曲线 66">
            <a:extLst>
              <a:ext uri="{FF2B5EF4-FFF2-40B4-BE49-F238E27FC236}">
                <a16:creationId xmlns:a16="http://schemas.microsoft.com/office/drawing/2014/main" id="{25FCC854-3B54-3491-B723-1A693BD9CC0C}"/>
              </a:ext>
            </a:extLst>
          </p:cNvPr>
          <p:cNvCxnSpPr>
            <a:cxnSpLocks/>
            <a:stCxn id="62" idx="2"/>
          </p:cNvCxnSpPr>
          <p:nvPr/>
        </p:nvCxnSpPr>
        <p:spPr>
          <a:xfrm rot="16200000" flipH="1">
            <a:off x="1815280" y="6283776"/>
            <a:ext cx="162585" cy="2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00A137A2-6D79-46BA-FD1A-9484E5E23830}"/>
              </a:ext>
            </a:extLst>
          </p:cNvPr>
          <p:cNvSpPr txBox="1"/>
          <p:nvPr/>
        </p:nvSpPr>
        <p:spPr>
          <a:xfrm>
            <a:off x="1238929" y="6334067"/>
            <a:ext cx="12898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(CLASS, H, W)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矩形: 圆角 84">
            <a:extLst>
              <a:ext uri="{FF2B5EF4-FFF2-40B4-BE49-F238E27FC236}">
                <a16:creationId xmlns:a16="http://schemas.microsoft.com/office/drawing/2014/main" id="{BE8DBE2F-E3C3-1DAB-C571-2F48EDC16851}"/>
              </a:ext>
            </a:extLst>
          </p:cNvPr>
          <p:cNvSpPr/>
          <p:nvPr/>
        </p:nvSpPr>
        <p:spPr>
          <a:xfrm>
            <a:off x="8024770" y="2047150"/>
            <a:ext cx="1527678" cy="268310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Patch Anomaly Head</a:t>
            </a:r>
          </a:p>
        </p:txBody>
      </p:sp>
      <p:sp>
        <p:nvSpPr>
          <p:cNvPr id="86" name="矩形: 圆角 85">
            <a:extLst>
              <a:ext uri="{FF2B5EF4-FFF2-40B4-BE49-F238E27FC236}">
                <a16:creationId xmlns:a16="http://schemas.microsoft.com/office/drawing/2014/main" id="{21C2161C-EC67-36EF-A00E-0001D720A918}"/>
              </a:ext>
            </a:extLst>
          </p:cNvPr>
          <p:cNvSpPr/>
          <p:nvPr/>
        </p:nvSpPr>
        <p:spPr>
          <a:xfrm>
            <a:off x="8024770" y="2812277"/>
            <a:ext cx="1527678" cy="268310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LSE</a:t>
            </a:r>
          </a:p>
        </p:txBody>
      </p:sp>
      <p:sp>
        <p:nvSpPr>
          <p:cNvPr id="88" name="矩形: 圆角 87">
            <a:extLst>
              <a:ext uri="{FF2B5EF4-FFF2-40B4-BE49-F238E27FC236}">
                <a16:creationId xmlns:a16="http://schemas.microsoft.com/office/drawing/2014/main" id="{BD6AE93C-C5C7-ED3A-ACD6-1B39F84311ED}"/>
              </a:ext>
            </a:extLst>
          </p:cNvPr>
          <p:cNvSpPr/>
          <p:nvPr/>
        </p:nvSpPr>
        <p:spPr>
          <a:xfrm>
            <a:off x="10139433" y="2027803"/>
            <a:ext cx="1527678" cy="268310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Patch Anomaly Head</a:t>
            </a:r>
          </a:p>
        </p:txBody>
      </p:sp>
      <p:sp>
        <p:nvSpPr>
          <p:cNvPr id="89" name="矩形: 圆角 88">
            <a:extLst>
              <a:ext uri="{FF2B5EF4-FFF2-40B4-BE49-F238E27FC236}">
                <a16:creationId xmlns:a16="http://schemas.microsoft.com/office/drawing/2014/main" id="{9C2E08C2-34D5-104C-5664-3D4B0D0F83C7}"/>
              </a:ext>
            </a:extLst>
          </p:cNvPr>
          <p:cNvSpPr/>
          <p:nvPr/>
        </p:nvSpPr>
        <p:spPr>
          <a:xfrm>
            <a:off x="10139433" y="2812277"/>
            <a:ext cx="1527678" cy="268310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LSE</a:t>
            </a:r>
          </a:p>
        </p:txBody>
      </p:sp>
      <p:cxnSp>
        <p:nvCxnSpPr>
          <p:cNvPr id="90" name="连接符: 曲线 89">
            <a:extLst>
              <a:ext uri="{FF2B5EF4-FFF2-40B4-BE49-F238E27FC236}">
                <a16:creationId xmlns:a16="http://schemas.microsoft.com/office/drawing/2014/main" id="{9DADD0E8-698D-54FA-1870-5142F44AB309}"/>
              </a:ext>
            </a:extLst>
          </p:cNvPr>
          <p:cNvCxnSpPr>
            <a:cxnSpLocks/>
            <a:stCxn id="16" idx="2"/>
            <a:endCxn id="85" idx="0"/>
          </p:cNvCxnSpPr>
          <p:nvPr/>
        </p:nvCxnSpPr>
        <p:spPr>
          <a:xfrm rot="5400000">
            <a:off x="8473123" y="1731664"/>
            <a:ext cx="630972" cy="12700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连接符: 曲线 92">
            <a:extLst>
              <a:ext uri="{FF2B5EF4-FFF2-40B4-BE49-F238E27FC236}">
                <a16:creationId xmlns:a16="http://schemas.microsoft.com/office/drawing/2014/main" id="{8B96E430-AF10-D23D-C172-2E93FFFD47CB}"/>
              </a:ext>
            </a:extLst>
          </p:cNvPr>
          <p:cNvCxnSpPr>
            <a:cxnSpLocks/>
            <a:stCxn id="85" idx="2"/>
            <a:endCxn id="86" idx="0"/>
          </p:cNvCxnSpPr>
          <p:nvPr/>
        </p:nvCxnSpPr>
        <p:spPr>
          <a:xfrm rot="5400000">
            <a:off x="8540201" y="2563868"/>
            <a:ext cx="496817" cy="12700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连接符: 曲线 96">
            <a:extLst>
              <a:ext uri="{FF2B5EF4-FFF2-40B4-BE49-F238E27FC236}">
                <a16:creationId xmlns:a16="http://schemas.microsoft.com/office/drawing/2014/main" id="{2F1187B5-571E-84E5-30D3-5A1E7D422C04}"/>
              </a:ext>
            </a:extLst>
          </p:cNvPr>
          <p:cNvCxnSpPr>
            <a:cxnSpLocks/>
            <a:stCxn id="23" idx="2"/>
            <a:endCxn id="88" idx="0"/>
          </p:cNvCxnSpPr>
          <p:nvPr/>
        </p:nvCxnSpPr>
        <p:spPr>
          <a:xfrm rot="5400000">
            <a:off x="10597460" y="1721990"/>
            <a:ext cx="611625" cy="12700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连接符: 曲线 100">
            <a:extLst>
              <a:ext uri="{FF2B5EF4-FFF2-40B4-BE49-F238E27FC236}">
                <a16:creationId xmlns:a16="http://schemas.microsoft.com/office/drawing/2014/main" id="{A0F30F95-F869-D6E4-EAC2-2EEDA69DC78F}"/>
              </a:ext>
            </a:extLst>
          </p:cNvPr>
          <p:cNvCxnSpPr>
            <a:cxnSpLocks/>
            <a:stCxn id="88" idx="2"/>
            <a:endCxn id="89" idx="0"/>
          </p:cNvCxnSpPr>
          <p:nvPr/>
        </p:nvCxnSpPr>
        <p:spPr>
          <a:xfrm rot="5400000">
            <a:off x="10645190" y="2554195"/>
            <a:ext cx="516164" cy="12700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" name="矩形: 圆角 106">
            <a:extLst>
              <a:ext uri="{FF2B5EF4-FFF2-40B4-BE49-F238E27FC236}">
                <a16:creationId xmlns:a16="http://schemas.microsoft.com/office/drawing/2014/main" id="{83E7FB76-570B-7A67-1AA3-E00107983F76}"/>
              </a:ext>
            </a:extLst>
          </p:cNvPr>
          <p:cNvSpPr/>
          <p:nvPr/>
        </p:nvSpPr>
        <p:spPr>
          <a:xfrm>
            <a:off x="8198862" y="4448565"/>
            <a:ext cx="1527678" cy="268310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Stage3 Feature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矩形: 圆角 107">
            <a:extLst>
              <a:ext uri="{FF2B5EF4-FFF2-40B4-BE49-F238E27FC236}">
                <a16:creationId xmlns:a16="http://schemas.microsoft.com/office/drawing/2014/main" id="{F0F5F124-D59A-64E7-A9CA-EFF05A4EFD0E}"/>
              </a:ext>
            </a:extLst>
          </p:cNvPr>
          <p:cNvSpPr/>
          <p:nvPr/>
        </p:nvSpPr>
        <p:spPr>
          <a:xfrm>
            <a:off x="9899515" y="4435567"/>
            <a:ext cx="1527678" cy="268310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Stage4 Feature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9" name="连接符: 曲线 108">
            <a:extLst>
              <a:ext uri="{FF2B5EF4-FFF2-40B4-BE49-F238E27FC236}">
                <a16:creationId xmlns:a16="http://schemas.microsoft.com/office/drawing/2014/main" id="{9DCEF57E-0D9E-7055-3AAA-FA8F7A784FDE}"/>
              </a:ext>
            </a:extLst>
          </p:cNvPr>
          <p:cNvCxnSpPr>
            <a:cxnSpLocks/>
            <a:stCxn id="86" idx="2"/>
            <a:endCxn id="107" idx="0"/>
          </p:cNvCxnSpPr>
          <p:nvPr/>
        </p:nvCxnSpPr>
        <p:spPr>
          <a:xfrm rot="16200000" flipH="1">
            <a:off x="8191666" y="3677530"/>
            <a:ext cx="1367978" cy="174092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连接符: 曲线 112">
            <a:extLst>
              <a:ext uri="{FF2B5EF4-FFF2-40B4-BE49-F238E27FC236}">
                <a16:creationId xmlns:a16="http://schemas.microsoft.com/office/drawing/2014/main" id="{966F7450-FD79-D604-D055-694B2AFD804B}"/>
              </a:ext>
            </a:extLst>
          </p:cNvPr>
          <p:cNvCxnSpPr>
            <a:cxnSpLocks/>
            <a:stCxn id="89" idx="2"/>
            <a:endCxn id="108" idx="0"/>
          </p:cNvCxnSpPr>
          <p:nvPr/>
        </p:nvCxnSpPr>
        <p:spPr>
          <a:xfrm rot="5400000">
            <a:off x="10105823" y="3638118"/>
            <a:ext cx="1354980" cy="239918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6" name="连接符: 曲线 115">
            <a:extLst>
              <a:ext uri="{FF2B5EF4-FFF2-40B4-BE49-F238E27FC236}">
                <a16:creationId xmlns:a16="http://schemas.microsoft.com/office/drawing/2014/main" id="{6710176F-2796-F682-F22F-DC45EFAD30BE}"/>
              </a:ext>
            </a:extLst>
          </p:cNvPr>
          <p:cNvCxnSpPr>
            <a:cxnSpLocks/>
            <a:stCxn id="107" idx="2"/>
            <a:endCxn id="10" idx="0"/>
          </p:cNvCxnSpPr>
          <p:nvPr/>
        </p:nvCxnSpPr>
        <p:spPr>
          <a:xfrm rot="5400000">
            <a:off x="8533575" y="5146001"/>
            <a:ext cx="858252" cy="12700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连接符: 曲线 119">
            <a:extLst>
              <a:ext uri="{FF2B5EF4-FFF2-40B4-BE49-F238E27FC236}">
                <a16:creationId xmlns:a16="http://schemas.microsoft.com/office/drawing/2014/main" id="{B52496E4-D33F-724D-9BA8-409A82035A30}"/>
              </a:ext>
            </a:extLst>
          </p:cNvPr>
          <p:cNvCxnSpPr>
            <a:cxnSpLocks/>
            <a:stCxn id="108" idx="2"/>
            <a:endCxn id="12" idx="0"/>
          </p:cNvCxnSpPr>
          <p:nvPr/>
        </p:nvCxnSpPr>
        <p:spPr>
          <a:xfrm rot="5400000">
            <a:off x="10227729" y="5139502"/>
            <a:ext cx="871250" cy="12700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连接符: 曲线 123">
            <a:extLst>
              <a:ext uri="{FF2B5EF4-FFF2-40B4-BE49-F238E27FC236}">
                <a16:creationId xmlns:a16="http://schemas.microsoft.com/office/drawing/2014/main" id="{72EB5C50-2479-5DB7-FDAD-00B2EB5E4EA0}"/>
              </a:ext>
            </a:extLst>
          </p:cNvPr>
          <p:cNvCxnSpPr>
            <a:cxnSpLocks/>
            <a:stCxn id="10" idx="2"/>
            <a:endCxn id="149" idx="0"/>
          </p:cNvCxnSpPr>
          <p:nvPr/>
        </p:nvCxnSpPr>
        <p:spPr>
          <a:xfrm rot="5400000">
            <a:off x="8262744" y="5499954"/>
            <a:ext cx="356475" cy="1043440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" name="连接符: 曲线 132">
            <a:extLst>
              <a:ext uri="{FF2B5EF4-FFF2-40B4-BE49-F238E27FC236}">
                <a16:creationId xmlns:a16="http://schemas.microsoft.com/office/drawing/2014/main" id="{F57D2E52-CF97-002F-8505-7A0E7FF5E0AE}"/>
              </a:ext>
            </a:extLst>
          </p:cNvPr>
          <p:cNvCxnSpPr>
            <a:cxnSpLocks/>
            <a:stCxn id="12" idx="2"/>
            <a:endCxn id="149" idx="0"/>
          </p:cNvCxnSpPr>
          <p:nvPr/>
        </p:nvCxnSpPr>
        <p:spPr>
          <a:xfrm rot="5400000">
            <a:off x="9113071" y="4649628"/>
            <a:ext cx="356475" cy="2744093"/>
          </a:xfrm>
          <a:prstGeom prst="curvedConnector3">
            <a:avLst>
              <a:gd name="adj1" fmla="val 50000"/>
            </a:avLst>
          </a:prstGeom>
          <a:ln w="19050">
            <a:solidFill>
              <a:schemeClr val="dk1">
                <a:alpha val="5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7" name="矩形: 圆角 136">
            <a:extLst>
              <a:ext uri="{FF2B5EF4-FFF2-40B4-BE49-F238E27FC236}">
                <a16:creationId xmlns:a16="http://schemas.microsoft.com/office/drawing/2014/main" id="{4EB28E8B-B984-60D8-DFE3-B16D55C56602}"/>
              </a:ext>
            </a:extLst>
          </p:cNvPr>
          <p:cNvSpPr/>
          <p:nvPr/>
        </p:nvSpPr>
        <p:spPr>
          <a:xfrm>
            <a:off x="5379839" y="3822340"/>
            <a:ext cx="2045651" cy="282901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Neck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3" name="图片 152">
            <a:extLst>
              <a:ext uri="{FF2B5EF4-FFF2-40B4-BE49-F238E27FC236}">
                <a16:creationId xmlns:a16="http://schemas.microsoft.com/office/drawing/2014/main" id="{A536CCE4-CA58-EC8F-8EFF-1A1A613C91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8521" y="1239225"/>
            <a:ext cx="3228571" cy="514286"/>
          </a:xfrm>
          <a:prstGeom prst="rect">
            <a:avLst/>
          </a:prstGeom>
        </p:spPr>
      </p:pic>
      <p:sp>
        <p:nvSpPr>
          <p:cNvPr id="156" name="文本框 155">
            <a:extLst>
              <a:ext uri="{FF2B5EF4-FFF2-40B4-BE49-F238E27FC236}">
                <a16:creationId xmlns:a16="http://schemas.microsoft.com/office/drawing/2014/main" id="{92057B5D-35E0-889A-89B2-D29D49EF73E6}"/>
              </a:ext>
            </a:extLst>
          </p:cNvPr>
          <p:cNvSpPr txBox="1"/>
          <p:nvPr/>
        </p:nvSpPr>
        <p:spPr>
          <a:xfrm>
            <a:off x="4148346" y="1862797"/>
            <a:ext cx="404763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当 </a:t>
            </a:r>
            <a:r>
              <a:rPr lang="en-US" altLang="zh-CN" b="1" dirty="0">
                <a:effectLst/>
              </a:rPr>
              <a:t>r</a:t>
            </a:r>
            <a:r>
              <a:rPr lang="en-US" altLang="zh-CN" b="1" dirty="0"/>
              <a:t>→0 </a:t>
            </a:r>
            <a:r>
              <a:rPr lang="zh-CN" altLang="en-US" b="1" dirty="0"/>
              <a:t>时：</a:t>
            </a:r>
            <a:r>
              <a:rPr lang="zh-CN" altLang="en-US" dirty="0"/>
              <a:t> 聚合结果趋向于 </a:t>
            </a:r>
            <a:r>
              <a:rPr lang="zh-CN" altLang="en-US" b="1" dirty="0"/>
              <a:t>算术平均值（</a:t>
            </a:r>
            <a:r>
              <a:rPr lang="en-US" altLang="zh-CN" b="1" dirty="0"/>
              <a:t>Global Average Pooling</a:t>
            </a:r>
            <a:r>
              <a:rPr lang="zh-CN" altLang="en-US" b="1" dirty="0"/>
              <a:t>）</a:t>
            </a:r>
            <a:r>
              <a:rPr lang="zh-CN" altLang="en-US" dirty="0"/>
              <a:t>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当 </a:t>
            </a:r>
            <a:r>
              <a:rPr lang="en-US" altLang="zh-CN" b="1" dirty="0">
                <a:effectLst/>
              </a:rPr>
              <a:t>r</a:t>
            </a:r>
            <a:r>
              <a:rPr lang="en-US" altLang="zh-CN" b="1" dirty="0"/>
              <a:t>→∞ </a:t>
            </a:r>
            <a:r>
              <a:rPr lang="zh-CN" altLang="en-US" b="1" dirty="0"/>
              <a:t>时：</a:t>
            </a:r>
            <a:r>
              <a:rPr lang="zh-CN" altLang="en-US" dirty="0"/>
              <a:t> 聚合结果趋向于 </a:t>
            </a:r>
            <a:r>
              <a:rPr lang="zh-CN" altLang="en-US" b="1" dirty="0"/>
              <a:t>最大值（</a:t>
            </a:r>
            <a:r>
              <a:rPr lang="en-US" altLang="zh-CN" b="1" dirty="0"/>
              <a:t>Global Max Pooling</a:t>
            </a:r>
            <a:r>
              <a:rPr lang="zh-CN" altLang="en-US" b="1" dirty="0"/>
              <a:t>）</a:t>
            </a:r>
            <a:r>
              <a:rPr lang="zh-CN" altLang="en-US" dirty="0"/>
              <a:t>。</a:t>
            </a:r>
          </a:p>
          <a:p>
            <a:pPr>
              <a:buNone/>
            </a:pPr>
            <a:r>
              <a:rPr lang="zh-CN" altLang="en-US" dirty="0"/>
              <a:t>因此，</a:t>
            </a:r>
            <a:r>
              <a:rPr lang="en-US" altLang="zh-CN" dirty="0">
                <a:effectLst/>
              </a:rPr>
              <a:t>r</a:t>
            </a:r>
            <a:r>
              <a:rPr lang="en-US" altLang="zh-CN" dirty="0"/>
              <a:t> </a:t>
            </a:r>
            <a:r>
              <a:rPr lang="zh-CN" altLang="en-US" dirty="0"/>
              <a:t>实际上是在 </a:t>
            </a:r>
            <a:r>
              <a:rPr lang="zh-CN" altLang="en-US" b="1" dirty="0"/>
              <a:t>平均（</a:t>
            </a:r>
            <a:r>
              <a:rPr lang="en-US" altLang="zh-CN" b="1" dirty="0"/>
              <a:t>Average</a:t>
            </a:r>
            <a:r>
              <a:rPr lang="zh-CN" altLang="en-US" b="1" dirty="0"/>
              <a:t>）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zh-CN" altLang="en-US" b="1" dirty="0"/>
              <a:t>最大（</a:t>
            </a:r>
            <a:r>
              <a:rPr lang="en-US" altLang="zh-CN" b="1" dirty="0"/>
              <a:t>Max</a:t>
            </a:r>
            <a:r>
              <a:rPr lang="zh-CN" altLang="en-US" b="1" dirty="0"/>
              <a:t>）</a:t>
            </a:r>
            <a:r>
              <a:rPr lang="en-US" altLang="zh-CN" dirty="0"/>
              <a:t> </a:t>
            </a:r>
            <a:r>
              <a:rPr lang="zh-CN" altLang="en-US" dirty="0"/>
              <a:t>之间寻找平衡。</a:t>
            </a:r>
          </a:p>
        </p:txBody>
      </p:sp>
    </p:spTree>
    <p:extLst>
      <p:ext uri="{BB962C8B-B14F-4D97-AF65-F5344CB8AC3E}">
        <p14:creationId xmlns:p14="http://schemas.microsoft.com/office/powerpoint/2010/main" val="1800883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EE1E1-6FE4-029C-8100-6E5CE01A3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10A80607-5203-79CB-E75E-0A4FFBDCFD17}"/>
              </a:ext>
            </a:extLst>
          </p:cNvPr>
          <p:cNvSpPr/>
          <p:nvPr/>
        </p:nvSpPr>
        <p:spPr>
          <a:xfrm>
            <a:off x="334963" y="1"/>
            <a:ext cx="895768" cy="1132114"/>
          </a:xfrm>
          <a:prstGeom prst="rect">
            <a:avLst/>
          </a:prstGeom>
          <a:solidFill>
            <a:srgbClr val="104BA4"/>
          </a:solidFill>
          <a:ln>
            <a:noFill/>
          </a:ln>
          <a:effectLst>
            <a:outerShdw blurRad="3302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01E0C73-716A-9B01-4A99-30441740B7CF}"/>
              </a:ext>
            </a:extLst>
          </p:cNvPr>
          <p:cNvSpPr txBox="1"/>
          <p:nvPr/>
        </p:nvSpPr>
        <p:spPr>
          <a:xfrm>
            <a:off x="294551" y="284064"/>
            <a:ext cx="976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04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87A9D63-6ED1-00F5-8990-40435B9D9FD5}"/>
              </a:ext>
            </a:extLst>
          </p:cNvPr>
          <p:cNvSpPr txBox="1"/>
          <p:nvPr/>
        </p:nvSpPr>
        <p:spPr>
          <a:xfrm>
            <a:off x="1388075" y="212563"/>
            <a:ext cx="45228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3200" dirty="0">
                <a:solidFill>
                  <a:srgbClr val="104BA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实验结果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5B188E58-DBC3-EDDC-0CC0-9BC836B82DAC}"/>
              </a:ext>
            </a:extLst>
          </p:cNvPr>
          <p:cNvGrpSpPr/>
          <p:nvPr/>
        </p:nvGrpSpPr>
        <p:grpSpPr>
          <a:xfrm>
            <a:off x="9796257" y="238208"/>
            <a:ext cx="1964493" cy="708062"/>
            <a:chOff x="4246274" y="-10895"/>
            <a:chExt cx="3940182" cy="1420161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FE6EDC55-1CB0-7A36-C3A8-BFFD40E341E7}"/>
                </a:ext>
              </a:extLst>
            </p:cNvPr>
            <p:cNvGrpSpPr/>
            <p:nvPr/>
          </p:nvGrpSpPr>
          <p:grpSpPr>
            <a:xfrm>
              <a:off x="4246274" y="-10895"/>
              <a:ext cx="3940181" cy="1400681"/>
              <a:chOff x="6547903" y="954561"/>
              <a:chExt cx="5069293" cy="1802069"/>
            </a:xfrm>
          </p:grpSpPr>
          <p:pic>
            <p:nvPicPr>
              <p:cNvPr id="21" name="图片 20">
                <a:extLst>
                  <a:ext uri="{FF2B5EF4-FFF2-40B4-BE49-F238E27FC236}">
                    <a16:creationId xmlns:a16="http://schemas.microsoft.com/office/drawing/2014/main" id="{8BC3E958-CFC4-B7F2-08CD-91A73FA83C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547903" y="985519"/>
                <a:ext cx="1771106" cy="1771111"/>
              </a:xfrm>
              <a:prstGeom prst="rect">
                <a:avLst/>
              </a:prstGeom>
            </p:spPr>
          </p:pic>
          <p:pic>
            <p:nvPicPr>
              <p:cNvPr id="22" name="图片 21">
                <a:extLst>
                  <a:ext uri="{FF2B5EF4-FFF2-40B4-BE49-F238E27FC236}">
                    <a16:creationId xmlns:a16="http://schemas.microsoft.com/office/drawing/2014/main" id="{6DCABACC-54C6-5E33-E775-481A4F390A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270228" y="954561"/>
                <a:ext cx="3346968" cy="1271930"/>
              </a:xfrm>
              <a:prstGeom prst="rect">
                <a:avLst/>
              </a:prstGeom>
            </p:spPr>
          </p:pic>
        </p:grp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20267CB1-0B2B-C35D-F2B9-7092D9EFDDD3}"/>
                </a:ext>
              </a:extLst>
            </p:cNvPr>
            <p:cNvSpPr/>
            <p:nvPr/>
          </p:nvSpPr>
          <p:spPr>
            <a:xfrm>
              <a:off x="5622894" y="915420"/>
              <a:ext cx="2563562" cy="4938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FUDAN UNIVERSITY</a:t>
              </a:r>
            </a:p>
          </p:txBody>
        </p:sp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B6C2FD8C-69A2-E04D-E8EB-96303425E0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551" y="1203615"/>
            <a:ext cx="8162733" cy="5441822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1E8BC3D6-BACA-9DF3-45ED-3CD7263E4037}"/>
              </a:ext>
            </a:extLst>
          </p:cNvPr>
          <p:cNvSpPr txBox="1"/>
          <p:nvPr/>
        </p:nvSpPr>
        <p:spPr>
          <a:xfrm>
            <a:off x="8694215" y="1500764"/>
            <a:ext cx="242746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Val best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en-US" altLang="zh-CN" dirty="0"/>
              <a:t>acc 0.827 </a:t>
            </a:r>
          </a:p>
          <a:p>
            <a:r>
              <a:rPr lang="en-US" altLang="zh-CN" dirty="0"/>
              <a:t>recall 0.874</a:t>
            </a:r>
          </a:p>
          <a:p>
            <a:r>
              <a:rPr lang="zh-CN" altLang="en-US" b="1" dirty="0"/>
              <a:t>在这个</a:t>
            </a:r>
            <a:r>
              <a:rPr lang="en-US" altLang="zh-CN" b="1" dirty="0"/>
              <a:t>checkpoint</a:t>
            </a:r>
            <a:r>
              <a:rPr lang="zh-CN" altLang="en-US" b="1" dirty="0"/>
              <a:t>上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en-US" altLang="zh-CN" b="1" dirty="0"/>
              <a:t>Test</a:t>
            </a:r>
            <a:r>
              <a:rPr lang="zh-CN" altLang="en-US" b="1" dirty="0"/>
              <a:t>：</a:t>
            </a:r>
            <a:endParaRPr lang="en-US" altLang="zh-CN" b="1" dirty="0"/>
          </a:p>
          <a:p>
            <a:r>
              <a:rPr lang="en-US" altLang="zh-CN" dirty="0"/>
              <a:t>acc 0.805</a:t>
            </a:r>
          </a:p>
          <a:p>
            <a:r>
              <a:rPr lang="en-US" altLang="zh-CN" dirty="0"/>
              <a:t>recall</a:t>
            </a:r>
            <a:r>
              <a:rPr lang="zh-CN" altLang="en-US" dirty="0"/>
              <a:t> </a:t>
            </a:r>
            <a:r>
              <a:rPr lang="en-US" altLang="zh-CN" dirty="0"/>
              <a:t>0.845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0D8040F-9493-E775-3435-BD3C3F7FDCF6}"/>
              </a:ext>
            </a:extLst>
          </p:cNvPr>
          <p:cNvSpPr txBox="1"/>
          <p:nvPr/>
        </p:nvSpPr>
        <p:spPr>
          <a:xfrm>
            <a:off x="8694215" y="3702705"/>
            <a:ext cx="272963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数据集划分：</a:t>
            </a:r>
            <a:endParaRPr lang="en-US" altLang="zh-CN" dirty="0"/>
          </a:p>
          <a:p>
            <a:r>
              <a:rPr lang="zh-CN" altLang="en-US" dirty="0"/>
              <a:t>共</a:t>
            </a:r>
            <a:r>
              <a:rPr lang="en-US" altLang="zh-CN" dirty="0"/>
              <a:t>4w+</a:t>
            </a:r>
            <a:r>
              <a:rPr lang="zh-CN" altLang="en-US" dirty="0"/>
              <a:t>组有效</a:t>
            </a:r>
            <a:r>
              <a:rPr lang="en-US" altLang="zh-CN" dirty="0" err="1"/>
              <a:t>img</a:t>
            </a:r>
            <a:r>
              <a:rPr lang="en-US" altLang="zh-CN" dirty="0"/>
              <a:t>/label</a:t>
            </a:r>
            <a:r>
              <a:rPr lang="zh-CN" altLang="en-US" dirty="0"/>
              <a:t>对</a:t>
            </a:r>
            <a:endParaRPr lang="en-US" altLang="zh-CN" dirty="0"/>
          </a:p>
          <a:p>
            <a:r>
              <a:rPr lang="zh-CN" altLang="en-US" dirty="0"/>
              <a:t>随机</a:t>
            </a:r>
            <a:r>
              <a:rPr lang="en-US" altLang="zh-CN" dirty="0"/>
              <a:t>70%</a:t>
            </a:r>
            <a:r>
              <a:rPr lang="zh-CN" altLang="en-US" dirty="0"/>
              <a:t>划分为</a:t>
            </a:r>
            <a:r>
              <a:rPr lang="en-US" altLang="zh-CN" dirty="0"/>
              <a:t>train set</a:t>
            </a:r>
          </a:p>
          <a:p>
            <a:r>
              <a:rPr lang="zh-CN" altLang="en-US" dirty="0"/>
              <a:t>剩下</a:t>
            </a:r>
            <a:r>
              <a:rPr lang="en-US" altLang="zh-CN" dirty="0"/>
              <a:t>30%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dirty="0"/>
              <a:t>    </a:t>
            </a:r>
            <a:r>
              <a:rPr lang="en-US" altLang="zh-CN" dirty="0"/>
              <a:t>· </a:t>
            </a:r>
            <a:r>
              <a:rPr lang="zh-CN" altLang="en-US" dirty="0"/>
              <a:t>随机取出</a:t>
            </a:r>
            <a:r>
              <a:rPr lang="en-US" altLang="zh-CN" dirty="0"/>
              <a:t>100</a:t>
            </a:r>
            <a:r>
              <a:rPr lang="zh-CN" altLang="en-US" dirty="0"/>
              <a:t>张正常与</a:t>
            </a:r>
            <a:r>
              <a:rPr lang="en-US" altLang="zh-CN" dirty="0"/>
              <a:t>100</a:t>
            </a:r>
            <a:r>
              <a:rPr lang="zh-CN" altLang="en-US" dirty="0"/>
              <a:t>张异常作为</a:t>
            </a:r>
            <a:r>
              <a:rPr lang="en-US" altLang="zh-CN" dirty="0"/>
              <a:t>test set</a:t>
            </a:r>
          </a:p>
          <a:p>
            <a:r>
              <a:rPr lang="zh-CN" altLang="en-US" dirty="0"/>
              <a:t>    </a:t>
            </a:r>
            <a:r>
              <a:rPr lang="en-US" altLang="zh-CN" dirty="0"/>
              <a:t>· </a:t>
            </a:r>
            <a:r>
              <a:rPr lang="zh-CN" altLang="en-US" dirty="0"/>
              <a:t>其余的归到 </a:t>
            </a:r>
            <a:r>
              <a:rPr lang="en-US" altLang="zh-CN" dirty="0" err="1"/>
              <a:t>val</a:t>
            </a:r>
            <a:r>
              <a:rPr lang="en-US" altLang="zh-CN" dirty="0"/>
              <a:t> set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6013065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94291;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9E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8315</TotalTime>
  <Words>817</Words>
  <Application>Microsoft Office PowerPoint</Application>
  <PresentationFormat>宽屏</PresentationFormat>
  <Paragraphs>130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等线</vt:lpstr>
      <vt:lpstr>等线 Light</vt:lpstr>
      <vt:lpstr>微软雅黑</vt:lpstr>
      <vt:lpstr>Arial</vt:lpstr>
      <vt:lpstr>Calibri</vt:lpstr>
      <vt:lpstr>Times New Roman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Tarjan Liu</cp:lastModifiedBy>
  <cp:revision>881</cp:revision>
  <dcterms:created xsi:type="dcterms:W3CDTF">2020-11-21T03:02:13Z</dcterms:created>
  <dcterms:modified xsi:type="dcterms:W3CDTF">2026-01-27T07:21:28Z</dcterms:modified>
</cp:coreProperties>
</file>